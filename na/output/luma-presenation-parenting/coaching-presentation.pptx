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Coaching Session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560320"/>
            <a:ext cx="393192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59EFF"/>
                </a:solidFill>
                <a:latin typeface="Calibri"/>
              </a:defRPr>
            </a:pPr>
            <a:r>
              <a:t>Tien Phan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LUMA Practitioner Program  •  Follow-up Coaching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Sharing how I applied Design Thinking to a real-life parenting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 Few Words About My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59EFF"/>
                </a:solidFill>
                <a:latin typeface="Calibri"/>
              </a:defRPr>
            </a:pPr>
            <a:r>
              <a:t>Planning meaningful after-school activities for my two daughters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0F0F5"/>
                </a:solidFill>
                <a:latin typeface="Calibri"/>
              </a:defRPr>
            </a:pPr>
            <a:r>
              <a:t>👧  Two daughters — ages 4 and 2 — come home at 4 PM every weekday</a:t>
            </a:r>
          </a:p>
          <a:p>
            <a:pPr>
              <a:spcAft>
                <a:spcPts val="1200"/>
              </a:spcAft>
              <a:defRPr sz="1800">
                <a:solidFill>
                  <a:srgbClr val="F0F0F5"/>
                </a:solidFill>
                <a:latin typeface="Calibri"/>
              </a:defRPr>
            </a:pPr>
            <a:r>
              <a:t>👩‍👧‍👧  A caregiver supervises while parents are at work</a:t>
            </a:r>
          </a:p>
          <a:p>
            <a:pPr>
              <a:spcAft>
                <a:spcPts val="1200"/>
              </a:spcAft>
              <a:defRPr sz="1800">
                <a:solidFill>
                  <a:srgbClr val="F0F0F5"/>
                </a:solidFill>
                <a:latin typeface="Calibri"/>
              </a:defRPr>
            </a:pPr>
            <a:r>
              <a:t>🎓  Both attend a Steiner (Waldorf) school</a:t>
            </a:r>
          </a:p>
          <a:p>
            <a:pPr>
              <a:spcAft>
                <a:spcPts val="1200"/>
              </a:spcAft>
              <a:defRPr sz="1800">
                <a:solidFill>
                  <a:srgbClr val="F0F0F5"/>
                </a:solidFill>
                <a:latin typeface="Calibri"/>
              </a:defRPr>
            </a:pPr>
            <a:r>
              <a:t>📋  Activities must be easy for the caregiver to follow and instruct</a:t>
            </a:r>
          </a:p>
          <a:p>
            <a:pPr>
              <a:spcAft>
                <a:spcPts val="1200"/>
              </a:spcAft>
              <a:defRPr sz="1800">
                <a:solidFill>
                  <a:srgbClr val="F0F0F5"/>
                </a:solidFill>
                <a:latin typeface="Calibri"/>
              </a:defRPr>
            </a:pPr>
            <a:r>
              <a:t>🌈  Activities should be diverse, age-appropriate, and complement Steiner methods</a:t>
            </a:r>
          </a:p>
          <a:p>
            <a:pPr>
              <a:spcAft>
                <a:spcPts val="1200"/>
              </a:spcAft>
              <a:defRPr sz="1800">
                <a:solidFill>
                  <a:srgbClr val="F0F0F5"/>
                </a:solidFill>
                <a:latin typeface="Calibri"/>
              </a:defRPr>
            </a:pPr>
            <a:r>
              <a:t>🧩  May draw from other educational approaches to fill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My Recipe — LUMA Methods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91440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Stakeholder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Identified everyone involved:</a:t>
            </a:r>
            <a:br/>
            <a:r>
              <a:t>children, caregiver, parents,</a:t>
            </a:r>
            <a:br/>
            <a:r>
              <a:t>teachers — and their needs.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45920"/>
            <a:ext cx="2560320" cy="9144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Interviewing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7432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Talked with the caregiver and</a:t>
            </a:r>
            <a:br/>
            <a:r>
              <a:t>teachers to understand daily</a:t>
            </a:r>
            <a:br/>
            <a:r>
              <a:t>routines and constraints.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2560320" cy="91440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Rose, Thorn, Bud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7432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Evaluated past activity plans</a:t>
            </a:r>
            <a:br/>
            <a:r>
              <a:t>to find what worked, what</a:t>
            </a:r>
            <a:br/>
            <a:r>
              <a:t>didn't, and new opportunities.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645920"/>
            <a:ext cx="2560320" cy="9144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Creative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27432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Cross-referenced activity types</a:t>
            </a:r>
            <a:br/>
            <a:r>
              <a:t>with developmental goals to</a:t>
            </a:r>
            <a:br/>
            <a:r>
              <a:t>generate diverse ideas.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59EFF"/>
                </a:solidFill>
                <a:latin typeface="Calibri"/>
              </a:defRPr>
            </a:pPr>
            <a:r>
              <a:t>Each method built on the previous one — moving from understanding → ideation →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Calibri"/>
              </a:defRPr>
            </a:pPr>
            <a:r>
              <a:t>✅  A structured weekly activity plan (Mon–Fri) tailored to each child's age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Calibri"/>
              </a:defRPr>
            </a:pPr>
            <a:r>
              <a:t>✅  Simple, visual instruction cards the caregiver can follow independently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Calibri"/>
              </a:defRPr>
            </a:pPr>
            <a:r>
              <a:t>✅  A balanced mix of creative play, motor skills, language, and sensory activities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Calibri"/>
              </a:defRPr>
            </a:pPr>
            <a:r>
              <a:t>✅  Activities that complement Steiner philosophy while introducing Montessori &amp; Reggio elements</a:t>
            </a:r>
          </a:p>
          <a:p>
            <a:pPr>
              <a:spcAft>
                <a:spcPts val="1400"/>
              </a:spcAft>
              <a:defRPr sz="1800">
                <a:solidFill>
                  <a:srgbClr val="F0F0F5"/>
                </a:solidFill>
                <a:latin typeface="Calibri"/>
              </a:defRPr>
            </a:pPr>
            <a:r>
              <a:t>✅  A feedback loop — caregiver notes what works, parents iterate weekly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59EFF"/>
                </a:solidFill>
                <a:latin typeface="Calibri"/>
              </a:defRPr>
            </a:pPr>
            <a:r>
              <a:t>The biggest win: the caregiver now feels confident running activities without step-by-step parent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Reflection — Rose, Thorn &amp; Bud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548640"/>
          </a:xfrm>
          <a:prstGeom prst="roundRect">
            <a:avLst/>
          </a:prstGeom>
          <a:solidFill>
            <a:srgbClr val="4EC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🌹  Rose (Positive)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Design Thinking made the planning process systematic instead of ad-hoc</a:t>
            </a:r>
          </a:p>
          <a:p>
            <a:pPr>
              <a:spcAft>
                <a:spcPts val="6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Stakeholder Mapping ensured no perspective was missed</a:t>
            </a:r>
          </a:p>
          <a:p>
            <a:pPr>
              <a:spcAft>
                <a:spcPts val="6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The caregiver reported higher confidence and engagement from the children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5486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  <a:latin typeface="Calibri"/>
              </a:defRPr>
            </a:pPr>
            <a:r>
              <a:t>🥀  Thorn (Challenge)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Time-consuming to prepare detailed instruction cards initially</a:t>
            </a:r>
          </a:p>
          <a:p>
            <a:pPr>
              <a:spcAft>
                <a:spcPts val="6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Hard to predict which activities suit a 2-year-old vs. a 4-year-old perfectly</a:t>
            </a:r>
          </a:p>
          <a:p>
            <a:pPr>
              <a:spcAft>
                <a:spcPts val="6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Caregiver needed an adjustment period to follow new formats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548640"/>
          </a:xfrm>
          <a:prstGeom prst="round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B1B2F"/>
                </a:solidFill>
                <a:latin typeface="Calibri"/>
              </a:defRPr>
            </a:pPr>
            <a:r>
              <a:t>🌱  Bud (Potential)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Could create a reusable activity template library for each age group</a:t>
            </a:r>
          </a:p>
          <a:p>
            <a:pPr>
              <a:spcAft>
                <a:spcPts val="6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Explore involving the children in choosing activities (co-design)</a:t>
            </a:r>
          </a:p>
          <a:p>
            <a:pPr>
              <a:spcAft>
                <a:spcPts val="600"/>
              </a:spcAft>
              <a:defRPr sz="1300">
                <a:solidFill>
                  <a:srgbClr val="F0F0F5"/>
                </a:solidFill>
                <a:latin typeface="Calibri"/>
              </a:defRPr>
            </a:pPr>
            <a:r>
              <a:t>Extend the approach to weekend and holiday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59EFF"/>
                </a:solidFill>
                <a:latin typeface="Calibri"/>
              </a:defRPr>
            </a:pPr>
            <a:r>
              <a:t>Evaluation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Application: Methods were applied correctly to a real-world scenario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Outcome: Tangible weekly plan and instruction cards produced</a:t>
            </a:r>
          </a:p>
          <a:p>
            <a:pPr>
              <a:spcAft>
                <a:spcPts val="4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Communication: Shared artifacts with caregiver and coaching peers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I'd Like to Learn More About…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F0F0F5"/>
                </a:solidFill>
                <a:latin typeface="Calibri"/>
              </a:defRPr>
            </a:pPr>
            <a:r>
              <a:t>🔍  How to better sequence LUMA methods for personal (non-work) challenges</a:t>
            </a:r>
          </a:p>
          <a:p>
            <a:pPr>
              <a:spcAft>
                <a:spcPts val="1600"/>
              </a:spcAft>
              <a:defRPr sz="2000">
                <a:solidFill>
                  <a:srgbClr val="F0F0F5"/>
                </a:solidFill>
                <a:latin typeface="Calibri"/>
              </a:defRPr>
            </a:pPr>
            <a:r>
              <a:t>🔍  Tips for facilitating co-design sessions with very young children</a:t>
            </a:r>
          </a:p>
          <a:p>
            <a:pPr>
              <a:spcAft>
                <a:spcPts val="1600"/>
              </a:spcAft>
              <a:defRPr sz="2000">
                <a:solidFill>
                  <a:srgbClr val="F0F0F5"/>
                </a:solidFill>
                <a:latin typeface="Calibri"/>
              </a:defRPr>
            </a:pPr>
            <a:r>
              <a:t>🔍  Ways to create lightweight, visual artifacts that non-designers can use</a:t>
            </a:r>
          </a:p>
          <a:p>
            <a:pPr>
              <a:spcAft>
                <a:spcPts val="1600"/>
              </a:spcAft>
              <a:defRPr sz="2000">
                <a:solidFill>
                  <a:srgbClr val="F0F0F5"/>
                </a:solidFill>
                <a:latin typeface="Calibri"/>
              </a:defRPr>
            </a:pPr>
            <a:r>
              <a:t>🔍  How peers have applied Design Thinking outside of traditional work contexts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59EFF"/>
                </a:solidFill>
                <a:latin typeface="Calibri"/>
              </a:defRPr>
            </a:pPr>
            <a:r>
              <a:t>Thank you! Looking forward to your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