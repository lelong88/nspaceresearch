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VaR Deep-Dive —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4A261"/>
                </a:solidFill>
              </a:defRPr>
            </a:pPr>
            <a:r>
              <a:t>Standalone-month review for the ILP26 launch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Audience:  Regional Office — VaR Review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Source:  slides/var-8th-draft (OCR'd)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Prepared by:  Compensation &amp; Risk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A261"/>
                </a:solidFill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Why a March-only deep-dive?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In March 2026 the company launched ILP26, a new ILP product with large case size. Three things happened simultaneously: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    1.  Sales volume surged — large FYP inflow concentrated in March.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    2.  Multiple incentive contests ran on top of business-as-usual compensation.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    3.  Sales hit the highest bonus-rate tier of the new compensation scheme.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 Because the scheme rewards on FYP — and ILP26 produces uniformly high FYP — many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 agents and UMs jumped to the top bonus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572000"/>
            <a:ext cx="11247120" cy="14630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</a:defRPr>
            </a:pPr>
            <a:r>
              <a:t>Regional Office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Deep-dive March 2026 alone to confirm there is no abnormal pattern hidden inside the rolling-12-month figure.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73C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March-only VaR — same formula, single-month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3CF"/>
                </a:solidFill>
              </a:defRPr>
            </a:pPr>
            <a:r>
              <a:t>VaR  =  Total Payout  −  Total FYP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Standard formula. We replace the rolling-12-month window with March 2026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Payout coverage (March 2026 only)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97480"/>
          <a:ext cx="112471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Included?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First-year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Rider bonus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UM compensation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Leader subsidy / 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Other agent / leader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Contest payout based on March production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✗  (pending freelook → booked May 2026)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166360"/>
            <a:ext cx="11247120" cy="82296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March VaR shown here understates the eventual figure by the contest payout that will land in May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758"/>
                </a:solidFill>
              </a:defRPr>
            </a:pPr>
            <a:r>
              <a:t>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March 2026 sits within the normal range — no anomaly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298"/>
                <a:gridCol w="893298"/>
                <a:gridCol w="893298"/>
                <a:gridCol w="893298"/>
                <a:gridCol w="893298"/>
                <a:gridCol w="893298"/>
                <a:gridCol w="893298"/>
                <a:gridCol w="893298"/>
                <a:gridCol w="893298"/>
                <a:gridCol w="893298"/>
                <a:gridCol w="893298"/>
                <a:gridCol w="893298"/>
                <a:gridCol w="893304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07/25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08/25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09/25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10/25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11/25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12/25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01/26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02/26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03/26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04/26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05/26 fcst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06/26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 (mil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0.64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 ('000 VND)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12,270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35,685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3,300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3,099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7,448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8,487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6,478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13,902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10,804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9,377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16,061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6,002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How to read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•  Aug'25 ($1.43M peak) — driven by contest payout booked from June 2025 high-FYP production.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•  Feb'26 ($0.56M) — driven by contest payout booked from December 2025 high-FYP production plus large H2 contests.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•  Mar'26 ($0.43M) — in line with the normal range. Sits BELOW the Aug'25 and Feb'26 peaks despite ILP26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    launch, because contest payouts are not yet booked.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•  May'26 forecast ($0.64M) — expected to rise once March-production-based contests post after freelook.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11247120" cy="59436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" y="5779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758"/>
                </a:solidFill>
              </a:defRPr>
            </a:pPr>
            <a:r>
              <a:t>Conclusion: March 2026 standalone VaR shows no abnormal spike. Pattern follows existing contest-cycle seasonality.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73CF"/>
                </a:solidFill>
              </a:defRPr>
            </a:pPr>
            <a:r>
              <a:t>POPULATION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505 UM+ units with VaR &gt; 0 in March — distribution by bucket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74320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505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UM+ UNITS WITH VaR &gt; 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280160"/>
            <a:ext cx="274320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10.80 bil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TOTAL VaR ('000 VND)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8016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274320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$0.43M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TOTAL VaR (USD)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0" y="1280160"/>
            <a:ext cx="283464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45 / 59%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UNITS / VaR SHARE ≥ $2,000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28016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65176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VaR bucket (USD)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 UM+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VaR ('000 VND)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Share of 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1,550,833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600 – &lt; 1,200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1,483,589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1,200 – &lt; 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1,401,291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≥ 2,000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6,368,519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10,804,233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5349240"/>
            <a:ext cx="11247120" cy="9144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70% of units sit under $1,200 individual VaR — too small to justify gaming. Signal concentrates in the 45 units in the ≥ $2,000 deep-dive bucket.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73CF"/>
                </a:solidFill>
              </a:defRPr>
            </a:pPr>
            <a:r>
              <a:t>POPULATION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By GTF and MBA Pro tier (all 505 units)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Non MBA Pro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MBA Pro 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MBA Pro 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MBA Pro 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# UM+ with VaR &gt;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Non 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294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    UM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    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    DM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    SDM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P13 persistency view (units with FYP &gt; 0, n = 313)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52628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P13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&lt; 600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600 – 1,200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1,200 – 2,000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≥ 2,000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&lt;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50 – 70%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70 –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Not yet P13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196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3946"/>
                </a:solidFill>
              </a:defRPr>
            </a:pPr>
            <a:r>
              <a:t>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≥ $2,000 USD bucket — the 45 deep-dive units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5029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Data note:  OCR captured 40 of the 45 rows (~5.17 bil VND of 6.37 bil VND total). Counts below use the 40 captured rows; directional conclusions are unaffected.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Note column (col AR) — what's driving each case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240280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 (col AR) — page 2 only (n = 22, with Note populated)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 units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 ('000 VND)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~ USD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Diff FYP bonus and FYP VAR  (calc gap)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2,799,147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$111,966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Delay payment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178,641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$7,146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–  (residual)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248,471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$9,939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Subtotal (reviewed, page 2)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3,226,259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$129,050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Page 1 (Select review = N, already cleared)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1,943,121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$77,725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Deep-dive total (OCR'd)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5,169,380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$206,775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166360"/>
            <a:ext cx="1124712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758"/>
                </a:solidFill>
              </a:defRPr>
            </a:pPr>
            <a:r>
              <a:t>Headline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1A2E"/>
                </a:solidFill>
              </a:defRPr>
            </a:pPr>
            <a:r>
              <a:t>~92% of the reviewed VaR amount (page 2) is explained by calculation gap or delayed payment, not arbitrage.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Calc gap = bonus computed on direct-report-team FYP (wider) vs. VaR formula subtracting only direct-team FYP (narrower).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3946"/>
                </a:solidFill>
              </a:defRPr>
            </a:pPr>
            <a:r>
              <a:t>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By Rank  (column 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 units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VaR ('000 VND)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~ USD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Share of 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/ unit ('000 VND)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BM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1,929,050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$77,162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214,339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941,724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$37,669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117,716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902,616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$36,105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583,048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$23,322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116,610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539,486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$21,579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273,456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$10,938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91,152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5,169,380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$206,775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129,235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937760"/>
            <a:ext cx="11247120" cy="128016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</a:defRPr>
            </a:pPr>
            <a: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1A2E"/>
                </a:solidFill>
              </a:defRPr>
            </a:pPr>
            <a:r>
              <a:t>BM carries the largest concentration — 23% of units but 37% of VaR amount.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Driven by the calc-gap mechanic: BMs override the widest indirect team. Structural, not behavioural.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3946"/>
                </a:solidFill>
              </a:defRPr>
            </a:pPr>
            <a:r>
              <a:t>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By MBA Pro tier  (column 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MBA tier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 units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VaR ('000 VND)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~ USD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Share of 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Non MBA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2,046,943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$81,878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Platinum (P)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1,955,590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$78,224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Silver 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751,433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$30,057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Gold (G)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415,414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$16,617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5,169,380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$206,775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97680"/>
            <a:ext cx="11247120" cy="19202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</a:defRPr>
            </a:pPr>
            <a: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1A2E"/>
                </a:solidFill>
              </a:defRPr>
            </a:pPr>
            <a:r>
              <a:t>MBA Pro Platinum is over-represented relative to population: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Only 18 Platinums in the entire 505-unit population — but 11 of them appear in this deep-dive (61%).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Platinums are the highest-tier producers; the calc-gap mechanic naturally amplifies on them because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they typically lead the largest direct + indirect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3946"/>
                </a:solidFill>
              </a:defRPr>
            </a:pPr>
            <a:r>
              <a:t>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By GTF  (column F / 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 units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VaR ('000 VND)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~ USD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Share of 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Non-GTF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3,945,878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$157,835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1,223,502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$48,940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5,169,380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$206,775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023360"/>
            <a:ext cx="11247120" cy="219456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</a:defRPr>
            </a:pPr>
            <a: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972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1A2E"/>
                </a:solidFill>
              </a:defRPr>
            </a:pPr>
            <a:r>
              <a:t>Non-GTF leaders carry 3 out of every 4 dollars of deep-dive VaR.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GTFs (with explicit subsidy) appear less, even though GTF subsidy is a known calc-gap driver —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most flagged cases are organic UM+ leaders with high indirect-team activity.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3946"/>
                </a:solidFill>
              </a:defRPr>
            </a:pPr>
            <a:r>
              <a:t>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Cross-tabs — Rank × MBA Pro  &amp;  Rank × GTF (counts)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CF"/>
                </a:solidFill>
              </a:defRPr>
            </a:pPr>
            <a:r>
              <a:t>Rank × MBA Pro  (count of units)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64008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Non MBA Pro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SDM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CF"/>
                </a:solidFill>
              </a:defRPr>
            </a:pPr>
            <a:r>
              <a:t>Rank × GTF  (count of units)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600200"/>
          <a:ext cx="4389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GTF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Non-GTF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SDM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937760"/>
            <a:ext cx="11247120" cy="128016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Calc-gap-style cases appear across every rank above UM. Concentration is a formula-scope effect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(direct-team vs. wider override scope), not a rank-specific behaviour.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3946"/>
                </a:solidFill>
              </a:defRPr>
            </a:pPr>
            <a:r>
              <a:t>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Note × Rank  (Select review = Y rows, n = 22)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SDM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Diff FYP bonus and FYP VAR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Delay payment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–  (residual)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72000"/>
            <a:ext cx="11247120" cy="169164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758"/>
                </a:solidFill>
              </a:defRPr>
            </a:pPr>
            <a:r>
              <a:t>Take-away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1A2E"/>
                </a:solidFill>
              </a:defRPr>
            </a:pPr>
            <a:r>
              <a:t>17 of 22 reviewed cases (77% by count, ~87% by amount) are calc-gap.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Only 2 cases are delayed-payment timing.  Only 3 small residual cases remain unflagged.</a:t>
            </a:r>
          </a:p>
          <a:p>
            <a:pPr>
              <a:spcAft>
                <a:spcPts val="400"/>
              </a:spcAft>
              <a:defRPr sz="1100" b="0">
                <a:solidFill>
                  <a:srgbClr val="00A758"/>
                </a:solidFill>
              </a:defRPr>
            </a:pPr>
            <a:r>
              <a:t>No case in this set indicates arbitrage behaviour.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194560" cy="292608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758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Conclusions for Regional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1.   March 2026 standalone VaR is normal.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$0.43M USD sits below Aug'25 ($1.43M) and Feb'26 ($0.56M) contest-driven peaks.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Forecast May'26 ($0.64M) will be the next peak, when March-production contests post.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2.   ILP26 launch is not driving abnormal VaR yet.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March payout in this view excludes the contest layer. Even at the higher bonus tiers triggered by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ILP26 case-size, the residual VaR after standard explanations is small.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3.   Deep-dive bucket (≥ $2,000 USD) holds 59% of total March VaR — but ~92% of the reviewed</a:t>
            </a:r>
          </a:p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       amount is explained by calculation gap or delayed payment, not arbitrage.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4.   Concentration patterns are structural, not behavioural: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•  BM rank — 37% of deep-dive VaR.  Widest indirect-team override.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•  MBA Pro Platinum — over-represented (11 of 18 platinums in the population).  Top-producer override.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•  Non-GTF leaders dominate (76% of VaR).  Organic team scale, not subsidised structures.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5.   No new control gap identified.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Existing Line1B monthly screening, deep-dive review, and payment-suspension protocol remain sufficient.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Recommend continuing monthly tracking of the calc-gap fingerprint (BM + Platinum + non-GTF)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       into May'26 to catch any deviation when contest payouts post.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Manulife VN  ·  March 2026 VaR Deep-Dive  ·  ILP26 launch month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