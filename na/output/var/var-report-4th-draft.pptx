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758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Agency VAR Threshold</a:t>
            </a:r>
            <a:br/>
            <a:r>
              <a:t>Analysis &amp;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Comprehensive review of Value-at-Risk exposure for the agency salesforce,</a:t>
            </a:r>
            <a:br/>
            <a:r>
              <a:t>historical trend analysis, and proposed threshold recalibration for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4A261"/>
                </a:solidFill>
              </a:defRPr>
            </a:pPr>
            <a:r>
              <a:t>4th Draft — Updated with P13 Persistency Analysis, Calculation Mismatch Deep Dive &amp; Combined GTF/Non-GTF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Agency Risk &amp; Compensation Review  |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Key Findings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CURRENT VAR (2025 ACTUAL)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$3.0M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APPROVED TRIGGER (LEGACY)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FORECAST VAR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PROPOSED TRIGGER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VAR Was Low in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Agency FYP declined from $200M+ to ~$53M in 2025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Salesforce reduced: CA at 13.6K (1/4-1/5 of prior years)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Core agent contribution ~65%; new agents dropped to 13%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Conduct reviews cleaned out high-risk teams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Clean VAR ≈ $0.24M (excl. timing gaps) — aligned with CAFR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VAR stable at $0.3-0.4M throughout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the Threshold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Breaching triggers mandatory risk protocol — deep-dive and escalation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New compensation scheme pushes VAR from $0.3M → ~$0.85M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Legacy $3.0M too high; $1.5M = proactive 50% tightening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4th Draft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66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Enhanced 2025 trend explanation: FYP decline, reduced salesforce (CA 13.6K), stable co-agent mix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Profile updated: 87% units have VAR &lt;$2K (was 72% &lt;$1K). P13 persistency analysis added for 168 units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Deep dive: 5 GTF top UM with VAR≥$4K — root cause is Direct Report vs Direct Team calculation mismatch, not actual risk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Combined GTF &amp; Non-GTF performance slides into summary. Special cases: 100% non-top UM, 100% non-MBA, 50%+ GTF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HISTORICAL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Channel VAR History with Agency Performance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6858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6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4572000"/>
          <a:ext cx="11612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 (Mil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Commission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~26%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FYP Core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FYP New Agents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CA ending Dec 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#UM+ ending Dec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6,325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9,096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7,176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5,999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VaR (Mn)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End %VaR/FYP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051560"/>
            <a:ext cx="457200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A758"/>
                </a:solidFill>
              </a:defRPr>
            </a:pPr>
            <a:r>
              <a:t>2020–2022: Stable (~$1.8–2.0M)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3258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Mass recruitment ~50K-60K/yr. FYP ~$200M+. New agents ~50% of FYP. 6K-9K UM+. High volume offset high payouts.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057400"/>
            <a:ext cx="4572000" cy="9144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452360" y="21031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A261"/>
                </a:solidFill>
              </a:defRPr>
            </a:pPr>
            <a:r>
              <a:t>⚠ 2022–2023: Spike to $3.8M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3172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FYP collapsed 67% ($204M→$72M). Commission unchanged (FYC=40%, avg=32%). Deferred payments from 2022 peak. VAR/FYP peaked 4.0%.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63240"/>
            <a:ext cx="4572000" cy="137160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52360" y="31089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3CF"/>
                </a:solidFill>
              </a:defRPr>
            </a:pPr>
            <a:r>
              <a:t>2024–2025: Decline to $0.3M (UPDATED)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33756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FYP declined to ~$53M. CA ending Dec at 13.6K (1/4-1/5 of prior years). UM count also declined. Core agents ~65%, new agents only 13%. Commission reduced to 26%. Co-agent/new-agent % contribution similar to prior years but absolute amounts much lower. VAR stable at $0.3-0.4M — very low and no volatility.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Historically Low 2025 VaR of $0.29 mil USD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$0.29M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VAR (GROSS)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$0.05M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TIMING-GAP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$0.24M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CLEAN VAR (NET)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260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UNITS WITH VAR &gt;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Current VaR exposure ending 2025 (rolling 12 months) is $0.29 mil USD, equivalent to ~0.6% of Agency FYP — significantly below approved trigger of $3 mil USD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~$0.05 mil USD VaR from timing-gap cases (FYP = 0 or negative, payout positive):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— Deferred payment of previously earned retention bonuses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— Payout includes indirect team income vs FYP captures only direct team production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After excluding timing-gap cases, clean VaR = ~$0.24 mil USD — aligned with CAFR arbitrage risk assessment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260 UM+ contributing to total positive VaR of $0.29 mil USD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Monthly Monitoring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Line1B conducts monthly screening for compensation payout ratios with other risk indicators to identify suspicious cases; conducts in-depth analyses when triggered; suspension of compensation payment for high risk cases until investigation is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PROFILE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Units with VaR &gt; 0: Profile &amp; Performance (Updated)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63%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ARE NON-GTF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95%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ARE NON-MBA 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87%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LOW VAR (&lt;$2K L12M)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HIGH EXPOSURE (≥$4K)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46888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Payout/FYP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FYP=0, Payout&gt;0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Payout&lt;0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FYP&gt;0,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29768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$VaR (K)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FYP=0, Payout&gt;0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Payout&lt;0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FYP&gt;0,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760720" y="2468880"/>
            <a:ext cx="6126480" cy="16459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897880" y="251460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Key Insight: 87% Low-VaR Units (Updated from 72%)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78892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226 units (87%) have VaR &lt;$2K, contributing $117K (40% of total)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$2,000/year is not sufficient to encourage gaming behavior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Acceptable risk level — no action required for this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297680"/>
            <a:ext cx="6126480" cy="16459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897880" y="434340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⚠ 34 Units with VaR ≥$2K (60% of total VaR)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61772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34 units contribute $176K (60% of total $293K VaR)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18 units with VaR ≥$4K account for $130K (44%) — see deep dive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Special cases (FYP=0 or negative) analyzed in Slide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NEW: P13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Units with VaR &gt; 0 &amp; 13-Month Persistency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168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UNITS (FYP&gt;0, PAYOUT&gt;0)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76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GOOD P13 (≥60%)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16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LOW P13, SMALL VAR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5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HIGH VAR GTF (≥$4K)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4688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P13 Group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P13 ≥ 60% (good quality)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P13 &lt; 60% (lower quality)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Not yet P13 (new UM/GTF)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17920" y="2468880"/>
            <a:ext cx="566928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55080" y="25146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76 Units: Good Sales Quality (P13 ≥ 60%)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These units demonstrate strong persistency — low risk profile. Good sales quality indicates legitimate production, not gaming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20440"/>
            <a:ext cx="5669280" cy="731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55080" y="35661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16 Units: Lower P13 but Small VaR (&lt;$2K)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94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Lower persistency but VaR amount is immaterial (&lt;$2K). Not sufficient to encourage gaming.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11247120" cy="182880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</a:defRPr>
            </a:pPr>
            <a:r>
              <a:t>Deep Dive: 5 Units — No P13, VaR ≥ $4,000, All GTF Top 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Profile: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All 5 are GTF (Growth Task Force)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All 5 are top UM (high-risk profile)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90% payout from UMC (31%) + GTF Subsidy (57%)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2628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63946"/>
                </a:solidFill>
              </a:defRPr>
            </a:pPr>
            <a:r>
              <a:t>Root Cause — Calculation Mismatch (NOT actual risk):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VaR uses FYP from Direct Team (avg 1.68K USD)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UMC/GTF Subsidy uses FYP from Direct Report (avg 18.99K USD)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Mismatch creates artificially high VaR — compensation is legitimate</a:t>
            </a:r>
          </a:p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• Conclusion: Technical calculation gap, not gaming or fraud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COMPOSITION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Bonus Contribution Breakdown — Units with VAR &gt;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00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 (USD 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1) 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2) 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Compensation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3) 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Compensation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Override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Team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Other Comp Bonuses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GTF Subsidy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188720"/>
            <a:ext cx="4754880" cy="32004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2694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Income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73CF"/>
                </a:solidFill>
              </a:defRPr>
            </a:pPr>
            <a:r>
              <a:t>FYC: 25%</a:t>
            </a:r>
          </a:p>
          <a:p>
            <a:pPr>
              <a:spcAft>
                <a:spcPts val="400"/>
              </a:spcAft>
              <a:defRPr sz="1000" b="1">
                <a:solidFill>
                  <a:srgbClr val="F4A261"/>
                </a:solidFill>
              </a:defRPr>
            </a:pPr>
            <a:r>
              <a:t>Agent Income: 32%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Agent Compensation: 16%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Agent Contest: ~15%</a:t>
            </a:r>
          </a:p>
          <a:p>
            <a:pPr>
              <a:spcAft>
                <a:spcPts val="400"/>
              </a:spcAft>
              <a:defRPr sz="1000" b="1">
                <a:solidFill>
                  <a:srgbClr val="E63946"/>
                </a:solidFill>
              </a:defRPr>
            </a:pPr>
            <a:r>
              <a:t>UM+ Income: 43%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Override: 19% ($228K)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Team Activation: 10% ($125K)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GTF Subsidy: 4% ($45K)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UM+ Contest: 7% ($85K)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Key Finding: UM+ Income Dominates VAR Exposure (43%)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40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Leader overrides ($228K, 19%) and leader activation ($125K, 10%) are the largest contributors. Arbitrage risk is most likely at UM+ layer where managers can influence their unit production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Combined GTF &amp; Non-GTF Units (FYP DT &gt; 0, Payout &gt;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Non-GTF Units (123 units)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%Payout/FYP &lt; 150%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%Payout/FYP &gt; 250%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4% (low-production, deferred payment)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MBA Pro (Top Leader)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017520"/>
            <a:ext cx="5303520" cy="11887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66% have acceptable payout/FYP ratio (below 150%)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4% with high ratio are low-production units — payouts driven by deferred payment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94% are Non MBA Pro — minimal top leader exposure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71% have FYP DT &lt;4K USD — small production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GTF Units (45 units)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6304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%Payout/FYP &lt; 150%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%Payout/FYP &gt; 250%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~26% (12 units, low-production)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89% (~40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MBA Pro (Top Leader)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11% (~5 units)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3017520"/>
            <a:ext cx="5303520" cy="11887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56% have acceptable payout/FYP ratio (below 150%)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26% with high ratio — low-production, non-deferred components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89% are Non MBA Pro (~40 units)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84% have FYP DT &lt;4K USD — very small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1247120" cy="146304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45262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Combined Key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Majority of both GTF and Non-GTF units have acceptable payout/FYP ratios (below 150%)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High-ratio units are predominantly in low-production groups — small absolute amounts create high percentages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Top Leader (MBA Pro) representation is minimal in both segments (6% Non-GTF, 11% GTF)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No conduct flags identified in either group — VAR driven by compensation structure, not fraud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RISK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Special Cases: Zero-FYP &amp; Negative-FYP Units (Updated)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NON-TOP 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NON-MBA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50%+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ARE GTF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&lt;$2K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MAJORITY VAR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FYP = 0 &amp; Payout &gt; 0  (78 units, $36.6K VaR)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60604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 /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$15.0K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Agent_NAB_FT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$17.1K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 Subsidy (9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direct &amp; 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$5.4K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FYP &lt; 0 &amp; Payout &gt; 0  (7 units, $10.9K VaR)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60604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$10.9K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$5.4K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(negative)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($2.0K)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direct &amp; 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$1.8K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4937760"/>
            <a:ext cx="539496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✓ Root Causes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Defer payment from prior year is main driver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Override from indirect team vs FYP from direct team only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Majority VAR &lt;$2K — not encouraging gaming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54864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355080" y="49834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GTF Subsidy: Risk Component — With Claw-Back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2120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GTF subsidy = 22% of VaR in zero-FYP units ($8.1K of $36.6K)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Claw-back: GTF terminates within 12-18 months → repay subsidy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FYP&lt;0 &amp; Payout&lt;0 (6 units, $4K): minimal, net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FORWARD-LOOKING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2026 Compensation Impact: Back-Test &amp;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ACTUAL (OLD SCHEME)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$0.48M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BACK-TEST (NEW SCHEME)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(NEW SCHEME)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+35%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 GROWTH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Back-Test 2025 (New Scheme on Actual Data)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Forecast 2026 (New Scheme + Growth)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⚠ Divergent Trends by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Non-MBA Pro VaR +11% ($378K→$421K): income only slightly increases while FYP grows 35%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MBA Pro VaR surges 4.2× ($103K→$435K): new scheme boosts top-performer compensation significantly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GTF units with VAR&gt;0 increase: production growth causes tier jumps → disproportionate income increase</a:t>
            </a:r>
          </a:p>
          <a:p>
            <a:pPr>
              <a:spcAft>
                <a:spcPts val="400"/>
              </a:spcAft>
              <a:defRPr sz="1000" b="0">
                <a:solidFill>
                  <a:srgbClr val="E63946"/>
                </a:solidFill>
              </a:defRPr>
            </a:pPr>
            <a:r>
              <a:t>• Root cause: GTF compensation scheme unchanged but higher production → higher tier 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Proposed Threshold: $1.5M Trigger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$1.5M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Recommended Trigger Point  |  Reduced from legacy $3.0M (50% tightening)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Rationale for $1.5M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Proactive 50% reduction from $3.0M — strongest tightening signal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~1.76× buffer above $0.85M forecast absorbs normal fluctuations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Calibrated for new compensation scheme impact on same production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Cleaner salesforce post 2024-2025 conduct reviews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2023 peak ($3.5M) was anomalous — no longer applicable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Scenario Analysis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269748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Triggers?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Base case (2026 forecast)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$0.85M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+50% stress on forecast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$1.28M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One-off retention ($0.5M)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$1.35M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Recruitment surge + abuse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$1.5M+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Return to 2023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Buffer Absorbs Known Noise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49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Structural formula asymmetry (income from full hierarchy vs FYP from direct team only)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New ILP product impact (2.5× min premium → higher productivities → higher compensation rates)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Seasonal deferred payments and normal business fluctuations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VAR Monitoring &amp; Control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Action Item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Dashboard Channel VaR report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Monitor total payout incl. PSM+ for significant fluctuations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Review VaR monitoring tool for enhancement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Deep-dive payout data: compensation components, agency segments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Red-flag investigation: multi-indicator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Already in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Update tracking in Local ARC; escalate to ARC/RCSC when breached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Embed VAR impact review in annual compensation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47120" cy="11887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4800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Escalation Protocol When Threshold Is Breached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When monthly VAR exceeds $1.5M, the local Compensation team and Line1B (front risk sales) must provide a deep-dive analysis. Line1B already manages monthly protocols for other risk controls — this is integrated into existing workflows, not a new standalone process. Multi-indicator screening includes: persistency ratios, sale patterns, phone/bank sharing, payout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" cy="274320"/>
          </a:xfrm>
          <a:prstGeom prst="roundRect">
            <a:avLst/>
          </a:prstGeom>
          <a:solidFill>
            <a:srgbClr val="32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Current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$0.3M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2025 actual VAR — historically low and stable ($0.3-0.4M). Driven by reduced salesforce (CA 13.6K = 1/4-1/5 of prior years), lower FYP, and cleaner teams post conduct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</a:defRPr>
            </a:pPr>
            <a:r>
              <a:t>Expected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$0.85M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2026 forecast under new compensation scheme with 35% FYP growth. Same FYP as 2023 but lower commission rate (26% vs 32%) and cleaner salesforce.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54864" cy="228600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Proposed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$1.5M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Reduced from legacy $3.0M — a 50% tightening. Provides ~1.76× buffer above forecast. Absorbs formula asymmetry, new ILP impact, and normal fluctuations.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FFFFF"/>
                </a:solidFill>
              </a:defRPr>
            </a:pPr>
            <a:r>
              <a:t>2025 Review Key Conclusions:</a:t>
            </a: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260 units with VAR&gt;0, total $0.29M. 87% have VAR&lt;$2K (not encouraging gaming). 5 high-VAR GTF units = calculation mismatch, not risk. Special cases = defer 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00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54864" cy="9144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EE"/>
                </a:solidFill>
              </a:defRPr>
            </a:pPr>
            <a:r>
              <a:t>The $1.5M trigger point represents a proactive 50% tightening from the legacy $3.0M threshold. It is calibrated against the 2026 forecast ($0.85M), supported by a structurally cleaner salesforce following 2024-2025 conduct reviews. Comprehensive monthly monitoring with multi-indicator screening remains in place.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All data as of January 2026  |  4th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