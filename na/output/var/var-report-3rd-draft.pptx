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A758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Agency VAR Threshold</a:t>
            </a:r>
            <a:br/>
            <a:r>
              <a:t>Analysis &amp;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Comprehensive review of Value-at-Risk exposure for the agency salesforce,</a:t>
            </a:r>
            <a:br/>
            <a:r>
              <a:t>historical trend analysis, and proposed threshold recalibration for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4A261"/>
                </a:solidFill>
              </a:defRPr>
            </a:pPr>
            <a:r>
              <a:t>3rd Draft — Updated with VAR History Performance Context &amp; High-Exposure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Agency Risk &amp; Compensation Review  |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Key Findings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CURRENT VAR (2025 ACTUAL)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$3.0M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APPROVED TRIGGER (LEGACY)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$0.85M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FORECAST VAR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$1.5M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PROPOSED TRIGGER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Why VAR Was Low in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Conduct reviews cleaned out high-risk teams, leaving a healthier salesforce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Business downturn: recruitment declined ~60%; high persistency kept FYP strong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After excluding timing-gap cases, clean VAR ≈ $0.24M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Aligned with CAFR arbitrage risk assessment back-test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Why the Threshold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Breaching triggers mandatory risk protocol — deep-dive and escalation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New compensation scheme pushes VAR from $0.3M → ~$0.85M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Legacy $3.0M too high; $1.5M = proactive 50% tightening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3rd Draft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66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Added full agency performance context (FYP, commission rates, production mix) to VAR History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Deep dive on 18 high-exposure units (VAR ≥$4K); verified defer payment as main driver for special segments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Trigger point: $1.5M (50% reduction from legacy $3.0M)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HISTORICAL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Channel VAR History with Agency Performance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6858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6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4572000"/>
          <a:ext cx="11612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 (Mil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Commission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~26%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FYP Core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FYP New Agents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#UM+ ending 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VaR (Mn)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End %VaR/FYP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051560"/>
            <a:ext cx="457200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452360" y="10972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A758"/>
                </a:solidFill>
              </a:defRPr>
            </a:pPr>
            <a:r>
              <a:t>2020–2022: Stable (~$1.8–2.0M)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32588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Mass recruitment ~50K-60K/yr. FYP ~$200M+. New agents ~50% of FYP. Top agents ~30%. Core agents 25-32%. 6K-9K UM+.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40280"/>
            <a:ext cx="45720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452360" y="228600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A261"/>
                </a:solidFill>
              </a:defRPr>
            </a:pPr>
            <a:r>
              <a:t>⚠ 2022–2023: Spike to $3.8M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51460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FYP collapsed 67% ($204M→$72M). Commission unchanged (FYC=40%, avg=32%). Deferred payments from 2022 peak. VAR/FYP peaked 4.0%.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29000"/>
            <a:ext cx="4572000" cy="105156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52360" y="34747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3CF"/>
                </a:solidFill>
              </a:defRPr>
            </a:pPr>
            <a:r>
              <a:t>2024–2025: Decline to $0.3M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Commission reduced to 26%. Core agents surged to 65%. UM+ dropped to 2,600. Conduct reviews cleaned salesforce. New agents only 13%.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Historically Low 2025 VaR of $0.29 mil USD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$0.29M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VAR (GROSS)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$0.05M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TIMING-GAP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$0.24M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CLEAN VAR (NET)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260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UNITS WITH VAR &gt;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Current VaR exposure ending 2025 (rolling 12 months) is $0.29 mil USD, equivalent to ~0.6% of Agency FYP — significantly below approved trigger of $3 mil USD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~$0.05 mil USD VaR from timing-gap cases (FYP = 0 or negative, payout positive):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— Deferred payment of previously earned retention bonuses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— Payout includes indirect team income vs FYP captures only direct team production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After excluding timing-gap cases, clean VaR = ~$0.24 mil USD — aligned with CAFR arbitrage risk assessment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260 UM+ contributing to total positive VaR of $0.29 mil USD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Monthly Monitoring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66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Line1B conducts monthly screening for compensation payout ratios with other risk indicators to identify suspicious cases; conducts in-depth analyses when triggered; suspension of compensation payment for high risk cases until investigation is completed.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PROFILE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Units with VaR &gt; 0: Profile &amp;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63%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ARE NON-GTF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95%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ARE NON-MBA 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72%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LOW VAR (&lt;$1K L12M)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18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HIGH EXPOSURE (≥$4K)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468880"/>
          <a:ext cx="56692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/>
                <a:gridCol w="944880"/>
                <a:gridCol w="944880"/>
                <a:gridCol w="944880"/>
                <a:gridCol w="944880"/>
                <a:gridCol w="94488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Payout/FYP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&lt;$1K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&lt;$2K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FYP=0, Payout&gt;0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Payout&lt;0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FYP&gt;0,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297680"/>
          <a:ext cx="56692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/>
                <a:gridCol w="944880"/>
                <a:gridCol w="944880"/>
                <a:gridCol w="944880"/>
                <a:gridCol w="944880"/>
                <a:gridCol w="94488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&lt;$1K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&lt;$2K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&lt;$4K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≥$4K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$VaR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FYP=0, Payout&gt;0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FYP&lt;0, Payout&lt;0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FYP&gt;0, Payout&gt;0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468880"/>
          <a:ext cx="55778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 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UM VaR&gt;0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Non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FYP DT/mo (mil VND)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314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FYP personal/mo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1mAA/mo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Avg NR 2025 YTD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09360" y="4846320"/>
            <a:ext cx="5577840" cy="11887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46520" y="4892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Key Insight: 72% Low-VaR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66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187 units (72%) have VaR &lt;$1K, contributing only $66K (22% of total). Acceptable risk. The 18 units with VaR ≥$4K account for $130K (44% of total) — see deep dive next slide.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3946"/>
                </a:solidFill>
              </a:defRPr>
            </a:pPr>
            <a:r>
              <a:t>NEW: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18 High-Exposure Units (VaR ≥ $4,000)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$130K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VAR (44% OF ALL)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18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UNITS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FYP&gt;0 &amp; PAYOUT&gt;0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CONDUCT FLAGS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3566160" cy="1645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Compensation Structure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High UM+ compensation (overrides + activation) relative to direct team FYP. Structural formula asymmetry: income from full hierarchy vs FYP from direct team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468880"/>
            <a:ext cx="3566160" cy="1645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Large Indirect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80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Some units have large indirect teams generating override income not offset by FYP in the VAR formula. This creates positive VAR even without fraud signal.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468880"/>
            <a:ext cx="3566160" cy="1645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27532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Risk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880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%VaR/FYP ranges from moderate to high. None flagged for conduct issues. VAR driven by compensation structure, not fraud. Individual monitoring recommended.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1247120" cy="15544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⚠ Recommended Actions for 18 High-Exposure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091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Individual case monitoring on monthly basis by Line1B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Cross-reference with multi-indicator risk screening (persistency, sale patterns, phone/bank sharing)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Review if compensation structure adjustments needed for outlier cases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These 18 units contribute $130K (44%) of total $293K VaR — disproportionate but structurally explained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COMPOSITION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Bonus Contribution Breakdown — Units with VAR &gt;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400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 (USD 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Payout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1) FYC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2) Agent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Agent Compensation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Agent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3) 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UM+ Compensation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   Override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   Team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   Other Comp Bonuses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GTF Subsidy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UM+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188720"/>
            <a:ext cx="4754880" cy="32004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2694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Income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73CF"/>
                </a:solidFill>
              </a:defRPr>
            </a:pPr>
            <a:r>
              <a:t>FYC: 25%</a:t>
            </a:r>
          </a:p>
          <a:p>
            <a:pPr>
              <a:spcAft>
                <a:spcPts val="400"/>
              </a:spcAft>
              <a:defRPr sz="1000" b="1">
                <a:solidFill>
                  <a:srgbClr val="F4A261"/>
                </a:solidFill>
              </a:defRPr>
            </a:pPr>
            <a:r>
              <a:t>Agent Income: 32%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Agent Compensation: 16%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Agent Contest: ~15%</a:t>
            </a:r>
          </a:p>
          <a:p>
            <a:pPr>
              <a:spcAft>
                <a:spcPts val="400"/>
              </a:spcAft>
              <a:defRPr sz="1000" b="1">
                <a:solidFill>
                  <a:srgbClr val="E63946"/>
                </a:solidFill>
              </a:defRPr>
            </a:pPr>
            <a:r>
              <a:t>UM+ Income: 43%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Override: 19% ($228K)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Team Activation: 10% ($125K)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GTF Subsidy: 4% ($45K)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— UM+ Contest: 7% ($85K)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Key Finding: UM+ Income Dominates VAR Exposure (43%)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40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Leader overrides ($228K, 19%) and leader activation ($125K, 10%) are the largest contributors. Arbitrage risk is most likely at UM+ layer where managers can influence their unit production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3946"/>
                </a:solidFill>
              </a:defRPr>
            </a:pPr>
            <a:r>
              <a:t>RISK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Zero-FYP &amp; Negative-FYP Units — Defer Payment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FYP = 0 &amp; Payout &gt; 0  (78 units, $36.6K VaR)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54864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 / Payout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$0.1K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$19.3K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$15.0K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Agent_NAB_FT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$17.1K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 Subsidy (9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direct &amp; 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Leader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$5.4K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FYP &lt; 0 &amp; Payout &gt; 0  (7 units, $10.9K VaR)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17320"/>
          <a:ext cx="54864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$10.9K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Payout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$5.4K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(negative)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($2.0K)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Agent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$4.2K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Leader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direct &amp; 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Leader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$1.8K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 payment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114800"/>
            <a:ext cx="5394960" cy="18288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✓ Verified: Defer Payment is Main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348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78+7+6 = 91 special cases verified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Majority driven by deferred payments from prior year production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66% of units have payout/FYP &lt; 150%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Most belong to MBA Pro group (not top 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48640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355080" y="41605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GTF Subsidy: Risk Component — With Claw-Back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4348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GTF subsidy = 22% of VaR in zero-FYP units ($8.1K of $36.6K)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Calculated on net production — no free-look requirement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Claw-back: GTF terminates within 12-18 months → repay subsidy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Residual risk: submit-cancel-resubmit loops possible if GTF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Non-GTF Units: FYP DT &gt; 0, Payout &gt;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6858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%Payout/FYP DT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&gt;0-&lt;4K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≥4-&lt;20K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≥20-&lt;60K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≥60K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≥100% - &lt;120%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≥120% - &lt;150%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≥150% - &lt;180%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≥180% - &lt;200%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≥200% - &lt;250%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≥250% - &lt;300%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≥300%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840480"/>
          <a:ext cx="6858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FYP DT L12M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 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&gt;0-&lt;4K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≥4-&lt;20K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≥20-&lt;60K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≥60K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097280"/>
            <a:ext cx="4297680" cy="22860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726679" y="11430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By %Payout/FYP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4173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66% of units have ratio below 150%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4% with ratio &gt;250% mostly low-production (FYP &lt;4K USD)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Payouts driven by deferred-payment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657600"/>
            <a:ext cx="4297680" cy="228600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726679" y="3703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3CF"/>
                </a:solidFill>
              </a:defRPr>
            </a:pPr>
            <a:r>
              <a:t>By Leader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94% are Non MBA Pro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6% are Top Leaders (MBA Pro): FYP DT ≥4K, ≥2 1mAA/mo, avg 1 NR/mo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71% have FYP DT &lt;4K USD — small production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GTF Units: FYP DT &gt; 0, Payout &gt;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6858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%Payout/FYP DT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&gt;0-&lt;4K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≥4-&lt;20K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≥20-&lt;60K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≥60K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≥100% - &lt;120%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≥120% - &lt;150%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≥150% - &lt;180%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≥180% - &lt;200%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≥200% - &lt;250%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≥250% - &lt;300%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≥300%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840480"/>
          <a:ext cx="6858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FYP DT L12M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 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&gt;0-&lt;4K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≥4-&lt;20K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≥20-&lt;60K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≥60K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097280"/>
            <a:ext cx="4297680" cy="22860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726679" y="11430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By %Payout/FYP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4173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56% of units have ratio below 150%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12 units (~26%) with ratio &gt;250% — low-production groups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Payouts driven by non-deferred-payment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657600"/>
            <a:ext cx="4297680" cy="228600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726679" y="3703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3CF"/>
                </a:solidFill>
              </a:defRPr>
            </a:pPr>
            <a:r>
              <a:t>By Leader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89% are Non MBA Pro (~40 units)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11% are Top Leaders (MBA Pro, ~5 units)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84% have FYP DT &lt;4K USD — very small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FORWARD-LOOKING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2026 Compensation Impact: Back-Test &amp;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ACTUAL (OLD SCHEME)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$0.48M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BACK-TEST (NEW SCHEME)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$0.85M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2026 FORECAST (NEW SCHEME)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+35%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FYP GROWTH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Back-Test 2025 (New Scheme on Actual Data)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78892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Non-GTF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Forecast 2026 (New Scheme + Growth)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78892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Non-GTF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⚠ Divergent Trends by Segment (Updated Analysis)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Non-MBA Pro VaR drops 19%: income only +3% while FYP grows 35% → VAR/FYP improves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MBA Pro VaR surges 3.2×: new scheme boosts top-performer compensation significantly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GTF units with VAR&gt;0 increase 18% (105→124): production increase causes tier jumps → disproportionate income increase</a:t>
            </a:r>
          </a:p>
          <a:p>
            <a:pPr>
              <a:spcAft>
                <a:spcPts val="400"/>
              </a:spcAft>
              <a:defRPr sz="1000" b="0">
                <a:solidFill>
                  <a:srgbClr val="E63946"/>
                </a:solidFill>
              </a:defRPr>
            </a:pPr>
            <a:r>
              <a:t>• Root cause confirmed: GTF compensation scheme unchanged but higher production → higher tier 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NEW: FORECAST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2026 VAR Forecast — Why Not Back to 2023 Peak?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2023 (Peak Year)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 (Forecast)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Impact on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$72M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Commission Rate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 avg (FYC=40%)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~26% avg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↓ Lower payout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Production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New agents ~39%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Core agents &gt;65%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↓ More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#UM+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5,999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~2,600-3,000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↓ Fewer units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Compensation Scheme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Old (higher rates)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New (higher for MBA)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↑ MBA Pro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Salesforce Quality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Pre-conduct review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Post-conduct review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↓ Cleaner teams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Deferred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High (from 2022 peak)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Normal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↓ Less timing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474720"/>
            <a:ext cx="5394960" cy="2560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Why 2026 VAR ($0.85M) &lt;&lt; 2023 VAR ($3.5M)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947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A1A2E"/>
                </a:solidFill>
              </a:defRPr>
            </a:pPr>
            <a:r>
              <a:t>Despite same FYP level ($72M):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Commission rate 6pp lower (26% vs 32%)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No mass deferred payments from prior peak year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Core agent contribution &gt;65% (vs 33% in 2023)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UM+ count ~2,600 (vs 5,999 in 2023)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Post-conduct review: high-risk teams removed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No special retention schemes inflating payouts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5577840" cy="2560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6364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⚠ Upside Risk Factors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7947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New compensation scheme triples VAR on same production for MBA Pro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New ILP product: higher case size (2.5× min premium) → higher productivities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If FYP growth exceeds 35% target → more units cross VAR threshold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Core agents with income/FYP &gt;100% may have elevated APE track risk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GTF tier-jump effect: production growth → disproportionate income increase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Proposed Threshold: $1.5M Trigger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$1.5M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Recommended Trigger Point  |  Reduced from legacy $3.0M (50% tightening)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Rationale for $1.5M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Proactive 50% reduction from $3.0M — strongest tightening signal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~1.76× buffer above $0.85M forecast absorbs normal fluctuations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Calibrated for new compensation scheme impact on same production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Cleaner salesforce post 2024-2025 conduct reviews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2023 peak ($3.5M) was anomalous — no longer applicable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Scenario Analysis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269748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Triggers?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Base case (2026 forecast)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$0.85M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+50% stress on forecast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$1.28M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One-off retention ($0.5M)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$1.35M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Recruitment surge + abuse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$1.5M+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Return to 2023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5074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Buffer Absorbs Known Noise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49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Structural formula asymmetry (income from full hierarchy vs FYP from direct team only)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New ILP product impact (2.5× min premium → higher productivities → higher compensation rates)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Seasonal deferred payments and normal business fluctuations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VAR Monitoring &amp; Control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Action Item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Dashboard Channel VaR report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 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Monitor total payout incl. PSM+ for significant fluctuations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Review VaR monitoring tool for enhancement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Deep-dive payout data: compensation components, agency segments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From Mar 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Red-flag investigation: multi-indicator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Line1B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Already in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Update tracking in Local ARC; escalate to ARC/RCSC when breached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Line1B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From Mar 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Embed VAR impact review in annual compensation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 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47120" cy="11887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4800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Escalation Protocol When Threshold Is Breached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74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When monthly VAR exceeds $1.5M, the local Compensation team and Line1B (front risk sales) must provide a deep-dive analysis. Line1B already manages monthly protocols for other risk controls — this is integrated into existing workflows, not a new standalone process. Multi-indicator screening includes: persistency ratios, sale patterns, phone/bank sharing, payout anomalies.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" cy="274320"/>
          </a:xfrm>
          <a:prstGeom prst="roundRect">
            <a:avLst/>
          </a:prstGeom>
          <a:solidFill>
            <a:srgbClr val="32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Conclusion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Current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$0.3M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2025 actual VAR — historically low due to high persistency, reduced manpower, and business downtrend. Clean VAR (excl. timing gaps) = $0.24M.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</a:defRPr>
            </a:pPr>
            <a:r>
              <a:t>Expected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$0.85M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2026 forecast under new compensation scheme with 35% FYP growth. Same FYP as 2023 but lower commission rate (26% vs 32%) and cleaner salesforce.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54864" cy="228600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Proposed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$1.5M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Reduced from legacy $3.0M — a 50% tightening. Provides ~1.76× buffer above forecast. Absorbs formula asymmetry, new ILP impact, and normal fluctuations.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1371600"/>
          </a:xfrm>
          <a:prstGeom prst="roundRect">
            <a:avLst/>
          </a:prstGeom>
          <a:solidFill>
            <a:srgbClr val="002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4864" cy="13716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EE"/>
                </a:solidFill>
              </a:defRPr>
            </a:pPr>
            <a:r>
              <a:t>The $1.5M trigger point represents a proactive 50% tightening from the legacy $3.0M threshold, demonstrating strengthened risk controls. It is calibrated against the 2026 forecast ($0.85M), stress-tested under the new compensation scheme, and supported by a structurally cleaner salesforce following 2024–2025 conduct reviews. The comprehensive monthly monitoring framework with multi-indicator screening remains in place regardless of threshold level.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All data as of January 2026  |  3rd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