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4A261"/>
                </a:solidFill>
              </a:defRPr>
            </a:pPr>
            <a:r>
              <a:t>2026 VAR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Compensation Change Impact: Back-test &amp;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$0.29 mil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2025 ACTUAL (OLD SCHEME)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$0.48 mil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2025 BACK-TEST (NEW SCHEME)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9728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$0.86 mil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2026 FORECAST (NEW SCHEME)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9728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+35%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FYP GROWTH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09728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286000"/>
          <a:ext cx="116128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Non-MBA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Current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('k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Back-Test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('k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(New comp scheme 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actual perf.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Forecast 2026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('k USD)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421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856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(New comp + FYP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growth 2026)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53035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Backtest 2025: +64% VaR ($293K → $481K) and rise in positive VaR units (168 → 202) driven by new compensation scheme, with same production as 2025 actual.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2026 FYP growth forecast further pushes VaR +78% ($481K → $856K) and expands positive VaR units (202 → 306), reflecting higher productivity among top performers and substantial inflow of new recruits.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852160"/>
            <a:ext cx="11612880" cy="4572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11480" y="58704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4A261"/>
                </a:solidFill>
              </a:defRPr>
            </a:pPr>
            <a:r>
              <a:t>⚠ Divergent trends: Non-MBA Pro VaR +52% ($248K→$378K) under new scheme  |  MBA Pro VaR surges ×2.3 ($45K→$103K): new scheme boosts top-performer MBA UM+ compensation significantly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4A261"/>
                </a:solidFill>
              </a:defRPr>
            </a:pPr>
            <a:r>
              <a:t>2026 VAR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New ILP Product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$0.86 mil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2026 FORECAST (NEW COMP SCHEME)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$1.27 mil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2026 FORECAST (+ NEW ILP PRODUCT)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Forecast 2026 — VaR Distribution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2606040"/>
          <a:ext cx="116128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 MBA Pro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MBA Pro 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MBA Pro 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MBA Pro 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VaR ('k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&lt;2000 USD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&lt;4000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&gt;=4000 USD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424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341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1,061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Units with VaR &gt; 0 by Segment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470916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 MBA Pro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MBA Pro 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MBA Pro 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MBA Pro 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UM with VaR DT L12M &gt;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Non 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UM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DM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SDM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74320" y="2286000"/>
            <a:ext cx="11612880" cy="9144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74320" y="62636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➤ Impact of new ILP product: minimum premium 2.5× higher than current case size, expected to contribute 16% total FYP, increase avg case size from 20M→30M VND, improve productivity by 15%, drive higher payout rates for top MBA producers → VaR increases from $0.86M to $1.27M.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3946"/>
                </a:solidFill>
              </a:defRPr>
            </a:pPr>
            <a: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$1.5 mil Trigger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18288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" cy="18288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Current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$0.29 mil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2025 actual VaR — historically low due to reduced manpower, and business downtrend.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097280"/>
            <a:ext cx="3657600" cy="18288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160520" y="1097280"/>
            <a:ext cx="54864" cy="18288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188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Expected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$1.27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2026 forecast under new compensation scheme with 35% FYP growth, new compensation scheme effective from Jan'26 and new ILP product launched from Mar'26.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657600" cy="18288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54864" cy="1828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88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</a:defRPr>
            </a:pPr>
            <a:r>
              <a:t>Proposed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$1.5 mil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Reduced from legacy $3.0M — a 50% tightening.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2026 VaR Threshold 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56616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$1.5 mil trigger point represents a proactive 50% tightening from the legacy $3.0M threshold, demonstrating tightening signal and strengthened risk controls.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Calibrated against the 2026 forecast ($1.27 mil) under the new compensation scheme and new ILP product launch, supported by a structurally cleaner salesforce following 2024–2025 conduct reviews.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Proposed $1.5 mil (+17% buffer from $1.27 mil forecast) to absorb: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  ➤ Calculation-gap cases due to timing difference between production and payment period, as well as a structural asymmetry in the VaR formula where Income includes earnings from the entire team hierarchy, but FYP only captures direct-team production (excludes UM+ in direct team).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  ➤ A UM+ with a large indirect team or with many high-productive UM+ in direct report can show positive VAR even without any risk — because their income reflects a wider scope than the FYP offset.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</a:defRPr>
            </a:pPr>
            <a:r>
              <a:t>    ➤ This ratio is consistent with 2025 observation, in which $0.05 mil/$0.29 mil in VaR (~17%) resulted from calculation-gap cases.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The comprehensive monthly monitoring framework with multi-indicator screening remains in place regardless of threshold level (details in monitoring slide).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