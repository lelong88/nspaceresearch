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A758"/>
                </a:solidFill>
              </a:defRPr>
            </a:pPr>
            <a:r>
              <a:t>MAC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12 Pilots Performance Update — as of Mar'26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12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TOTAL MAC OPERATIONAL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4864" cy="10058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17520" y="109728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6,561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TOTAL FYP (MIL VND)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097280"/>
            <a:ext cx="54864" cy="100584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0" y="109728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80%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AVG TARGET ACHIEVED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097280"/>
            <a:ext cx="54864" cy="10058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0" y="109728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139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NEW RECRUITS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097280"/>
            <a:ext cx="54864" cy="100584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2286000"/>
            <a:ext cx="11612880" cy="64008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11480" y="230428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</a:defRPr>
            </a:pPr>
            <a:r>
              <a:t>Overall performance: Positive — 80% aggregate FYP target, 5/12 above 90% target, 100% quality compliance (12/12 office rated green, DC check: 12/12 pass). MAC cost/FYP ~15% (excl. one-off setup) vs. Branch office CE cost ~16–20%.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74320" y="3017520"/>
          <a:ext cx="1161288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716"/>
                <a:gridCol w="1055716"/>
                <a:gridCol w="1055716"/>
                <a:gridCol w="1055716"/>
                <a:gridCol w="1055716"/>
                <a:gridCol w="1055716"/>
                <a:gridCol w="1055716"/>
                <a:gridCol w="1055716"/>
                <a:gridCol w="1055716"/>
                <a:gridCol w="1055716"/>
                <a:gridCol w="10557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Contracted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FYP (mil)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 (mil)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 Target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#NR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# 1mAA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Allowance (mil)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Office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Comment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MAC 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2025-05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Below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MAC 02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2025-08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475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1,110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Underperforming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MAC 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2025-09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FYP lagging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MAC 04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2025-09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1,087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810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134%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Star performer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MAC 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2025-09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MAC 06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2025-10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889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1,334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67%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Low conversion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MAC 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2025-11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1,535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1,364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Strong — urban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MAC 08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2025-12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210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Below target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MAC 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2026-02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Too early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MAC 10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2026-02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Too early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MAC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2026-02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Too early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MAC 12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2026-02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Too early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5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6,561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8,248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1,343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12/12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12/12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274320" y="5669280"/>
            <a:ext cx="11612880" cy="54864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11480" y="56875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3946"/>
                </a:solidFill>
              </a:defRPr>
            </a:pPr>
            <a:r>
              <a:t>⚠ Alert: MAC 01 failed SM MOC (M9–M12) → Guaranteed subsidy stopped per scheme rules → Next review at M12; if demoted below SM → terminate contract. MAC as % of Agency FYP: 0.6% (early stage).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88036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Suggest: add Vietnam map on the left showing MAC 09–12 locations (new MACs onboarded Feb'26)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A758"/>
                </a:solidFill>
              </a:defRPr>
            </a:pPr>
            <a:r>
              <a:t>MAC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Pipeline &amp; Expansion Funnel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70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4864" cy="100584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17520" y="109728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22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OFFER LETTER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097280"/>
            <a:ext cx="54864" cy="10058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0" y="109728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12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MAC ONBOARDED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097280"/>
            <a:ext cx="54864" cy="10058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0" y="109728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8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OPERATIONAL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097280"/>
            <a:ext cx="54864" cy="10058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CF"/>
                </a:solidFill>
              </a:defRPr>
            </a:pPr>
            <a:r>
              <a:t>1. Pipeline — 70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2651760"/>
          <a:ext cx="27432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Nominee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Application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0040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A261"/>
                </a:solidFill>
              </a:defRPr>
            </a:pPr>
            <a:r>
              <a:t>2. Offer Letter — 22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0" y="2651760"/>
          <a:ext cx="2743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Committee Interview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Passed &amp; Released Offer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Offer Letter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12648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758"/>
                </a:solidFill>
              </a:defRPr>
            </a:pPr>
            <a:r>
              <a:t>3. MAC Onboarding — 12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2651760"/>
          <a:ext cx="27432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Location 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MIT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Register LTD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Appointed &amp; Contract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05256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758"/>
                </a:solidFill>
              </a:defRPr>
            </a:pPr>
            <a:r>
              <a:t>4. Operation — 8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052560" y="2651760"/>
          <a:ext cx="2743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Construction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Opening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74320" y="4480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CF"/>
                </a:solidFill>
              </a:defRPr>
            </a:pPr>
            <a:r>
              <a:t>Current Status Highlights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800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A1A2E"/>
                </a:solidFill>
              </a:defRPr>
            </a:pPr>
            <a:r>
              <a:t>Pipeline &amp; Offer Letter: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1 MACD completed interview, confirmed offer → moving to onboarding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1 MACD completed interview, awaiting confirmation</a:t>
            </a:r>
          </a:p>
          <a:p>
            <a:pPr>
              <a:spcAft>
                <a:spcPts val="400"/>
              </a:spcAft>
              <a:defRPr sz="900" b="1">
                <a:solidFill>
                  <a:srgbClr val="1A1A2E"/>
                </a:solidFill>
              </a:defRPr>
            </a:pPr>
            <a:r>
              <a:t>Onboarding: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4 MACD signed MAC contract in Feb'26 (MAC 09–12)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3 MACD completed locations, moving to final step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2 MACD looking for office location</a:t>
            </a:r>
          </a:p>
          <a:p>
            <a:pPr>
              <a:spcAft>
                <a:spcPts val="400"/>
              </a:spcAft>
              <a:defRPr sz="900" b="0">
                <a:solidFill>
                  <a:srgbClr val="E63946"/>
                </a:solidFill>
              </a:defRPr>
            </a:pPr>
            <a:r>
              <a:t>• 1 MACD failed onboarding process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800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A1A2E"/>
                </a:solidFill>
              </a:defRPr>
            </a:pPr>
            <a:r>
              <a:t>Operation: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7 MACs completed construction &amp; opened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1 MAC completed construction, grand opening 5/3/2026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5943600"/>
            <a:ext cx="11612880" cy="36576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11480" y="59618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A758"/>
                </a:solidFill>
              </a:defRPr>
            </a:pPr>
            <a:r>
              <a:t>Target: +10 MACs onboarding &amp; operational by end of H1'26  |  Current pipeline: 74 nominees → 20 offers → 12 operational (7 opened)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73CF"/>
                </a:solidFill>
              </a:defRPr>
            </a:pPr>
            <a:r>
              <a:t>MAC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MAC Recruitment &amp; Onboarding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CF"/>
                </a:solidFill>
              </a:defRPr>
            </a:pPr>
            <a:r>
              <a:t>Phase 1: Interview (similar GTF SM+)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68580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Responsible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Process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Recruiter / RH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1st Layer Interview &amp; Review 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Agency Operation (AO)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Review application, Due diligence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AO, MBA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Official Interview with Manulife — Stop if Fail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CAO, Head ASBD,</a:t>
                      </a:r>
                    </a:p>
                    <a:p>
                      <a:pPr algn="ctr">
                        <a:defRPr sz="900"/>
                      </a:pPr>
                      <a:r>
                        <a:t>Head MBA, Head Line1B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MAC Committee Interview — Stop if Fail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06640" y="1051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CF"/>
                </a:solidFill>
              </a:defRPr>
            </a:pPr>
            <a:r>
              <a:t>Selection Criteria (Full List)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371600"/>
            <a:ext cx="4480560" cy="19202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543800" y="141732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FYP L12M (last 12 months production)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#CA L6M (case count last 6 months)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$Income L12M (income last 12 months)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P13 (persistency month 13)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Working experience in Life Insurance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Education &amp; Age requirements</a:t>
            </a:r>
          </a:p>
          <a:p>
            <a:pPr>
              <a:spcAft>
                <a:spcPts val="400"/>
              </a:spcAft>
              <a:defRPr sz="900" b="0">
                <a:solidFill>
                  <a:srgbClr val="E63946"/>
                </a:solidFill>
              </a:defRPr>
            </a:pPr>
            <a:r>
              <a:t>• CIC credit check</a:t>
            </a:r>
          </a:p>
          <a:p>
            <a:pPr>
              <a:spcAft>
                <a:spcPts val="400"/>
              </a:spcAft>
              <a:defRPr sz="900" b="0">
                <a:solidFill>
                  <a:srgbClr val="E63946"/>
                </a:solidFill>
              </a:defRPr>
            </a:pPr>
            <a:r>
              <a:t>• Reference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566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A758"/>
                </a:solidFill>
              </a:defRPr>
            </a:pPr>
            <a:r>
              <a:t>Phase 2: Onboarding (SM GTF MAC)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3886200"/>
          <a:ext cx="116128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Responsible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Process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Issuing Offer Letter, Support MIT, Contract 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CRE &amp; AMkt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Review → Approval/Reject of office location — Stop if rejected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SM GTF MAC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Ensure construction complies with legal &amp; Manulife requirements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CRE &amp; AMkt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Sign Project Acceptance (leasing contract, construction contract,</a:t>
                      </a:r>
                    </a:p>
                    <a:p>
                      <a:pPr algn="ctr">
                        <a:defRPr sz="900"/>
                      </a:pPr>
                      <a:r>
                        <a:t>invoice, look &amp; feel alignment with guideline)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274320" y="5486400"/>
            <a:ext cx="11612880" cy="36576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11480" y="5504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A758"/>
                </a:solidFill>
              </a:defRPr>
            </a:pPr>
            <a:r>
              <a:t>Final: Scan back documents to CPA for future payment → MAC operational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5943600"/>
            <a:ext cx="11612880" cy="36576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11480" y="59618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3CF"/>
                </a:solidFill>
              </a:defRPr>
            </a:pPr>
            <a:r>
              <a:t>End-to-end: Scan hồ sơ → Interview GTF → MAC Committee → Business Plan → Offer → LTD Registration → Location Approval → Sign Contract → Operational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