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01168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PILOT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Manulife Agency Center | Performance Update as of Jan'26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8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TOTAL MACs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105156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6,195m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FYP (MIL VND)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5156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0" y="105156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139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NEW RECRUITS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05156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0" y="105156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93%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AVG TARGET ACHIEVED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05156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2880" y="2194560"/>
          <a:ext cx="117957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366"/>
                <a:gridCol w="907366"/>
                <a:gridCol w="907366"/>
                <a:gridCol w="907366"/>
                <a:gridCol w="907366"/>
                <a:gridCol w="907366"/>
                <a:gridCol w="907366"/>
                <a:gridCol w="907366"/>
                <a:gridCol w="907366"/>
                <a:gridCol w="907366"/>
                <a:gridCol w="907366"/>
                <a:gridCol w="907366"/>
                <a:gridCol w="907368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Province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FYP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(mil)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(mil)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%Ach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1mAA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Allowance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Paid (mil)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Office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Ecopark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Hưng Yên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May'25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Quảng Yên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Quảng Ninh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Aug'25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810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Đạ Tẻh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Lâm Đồng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Sep'25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Diễn Châu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Nghệ An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Sep'25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986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570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173%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Vị Thanh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Cần Thơ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Sep'25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Yên Bái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Lào Cai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Oct'25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767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1,050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Thủ Đức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Hồ Chí Minh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Nov'25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Vĩnh Phúc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Phú Thọ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Dec'25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106%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6,195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6,638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8/8 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8/8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5166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3CF"/>
                </a:solidFill>
              </a:defRPr>
            </a:pPr>
            <a:r>
              <a:t>Monthly FYP Trend (mil VND) — All MACs Combined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82880" y="5440680"/>
          <a:ext cx="475488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0"/>
                <a:gridCol w="528320"/>
                <a:gridCol w="528320"/>
                <a:gridCol w="528320"/>
                <a:gridCol w="528320"/>
                <a:gridCol w="528320"/>
                <a:gridCol w="528320"/>
                <a:gridCol w="528320"/>
                <a:gridCol w="52832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M01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M02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M03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M04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M05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M06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M07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M08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M09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212080" y="5074920"/>
            <a:ext cx="3200400" cy="10972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349240" y="512064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A758"/>
                </a:solidFill>
              </a:defRPr>
            </a:pPr>
            <a:r>
              <a:t>5 of 8 MACs at or above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5321808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00A758"/>
                </a:solidFill>
              </a:defRPr>
            </a:pPr>
            <a:r>
              <a:t>• MAC 04 Diễn Châu: 173% — star performer</a:t>
            </a:r>
          </a:p>
          <a:p>
            <a:pPr>
              <a:spcAft>
                <a:spcPts val="400"/>
              </a:spcAft>
              <a:defRPr sz="800" b="0">
                <a:solidFill>
                  <a:srgbClr val="00A758"/>
                </a:solidFill>
              </a:defRPr>
            </a:pPr>
            <a:r>
              <a:t>• MAC 07 Thủ Đức: 129% — highest absolute FYP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  <a:r>
              <a:t>• 100% Green office quality &amp; DC pass</a:t>
            </a:r>
          </a:p>
          <a:p>
            <a:pPr>
              <a:spcAft>
                <a:spcPts val="400"/>
              </a:spcAft>
              <a:defRPr sz="800" b="0">
                <a:solidFill>
                  <a:srgbClr val="666666"/>
                </a:solidFill>
              </a:defRPr>
            </a:pPr>
            <a:r>
              <a:t>• MAC as % of Agency FYP: 0.6% (early stage)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5074920"/>
            <a:ext cx="3200400" cy="10972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732520" y="512064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A261"/>
                </a:solidFill>
              </a:defRPr>
            </a:pPr>
            <a:r>
              <a:t>Action needed: MAC 02 &amp;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5321808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E63946"/>
                </a:solidFill>
              </a:defRPr>
            </a:pPr>
            <a:r>
              <a:t>• MAC 02 (57%) — lowest target achievement</a:t>
            </a:r>
          </a:p>
          <a:p>
            <a:pPr>
              <a:spcAft>
                <a:spcPts val="400"/>
              </a:spcAft>
              <a:defRPr sz="800" b="0">
                <a:solidFill>
                  <a:srgbClr val="E63946"/>
                </a:solidFill>
              </a:defRPr>
            </a:pPr>
            <a:r>
              <a:t>• MAC 01 — SM MOC fail at M9-M12</a:t>
            </a:r>
          </a:p>
          <a:p>
            <a:pPr>
              <a:spcAft>
                <a:spcPts val="400"/>
              </a:spcAft>
              <a:defRPr sz="800" b="0">
                <a:solidFill>
                  <a:srgbClr val="F4A261"/>
                </a:solidFill>
              </a:defRPr>
            </a:pPr>
            <a:r>
              <a:t>• FYP trend declining after initial burst (M04+)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  <a:r>
              <a:t>• Pipeline: 11 more MACs in onboarding/construction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00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Highly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011680" cy="274320"/>
          </a:xfrm>
          <a:prstGeom prst="roundRect">
            <a:avLst/>
          </a:prstGeom>
          <a:solidFill>
            <a:srgbClr val="32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PILOT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MAC Pilot Summary — Cost, Quality &amp;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651760" cy="86868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~13%</a:t>
            </a:r>
          </a:p>
          <a:p>
            <a:pPr algn="ctr">
              <a:defRPr sz="800">
                <a:solidFill>
                  <a:srgbClr val="AAAABB"/>
                </a:solidFill>
              </a:defRPr>
            </a:pPr>
            <a:r>
              <a:t>STEADY-STATE</a:t>
            </a:r>
            <a:br/>
            <a:r>
              <a:t>COST/FYP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5720" cy="86868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097280"/>
            <a:ext cx="2651760" cy="86868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 algn="ctr">
              <a:defRPr sz="800">
                <a:solidFill>
                  <a:srgbClr val="AAAABB"/>
                </a:solidFill>
              </a:defRPr>
            </a:pPr>
            <a:r>
              <a:t>OFFICE QUALITY</a:t>
            </a:r>
            <a:br/>
            <a:r>
              <a:t>GREEN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45720" cy="86868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651760" cy="86868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 of 8</a:t>
            </a:r>
          </a:p>
          <a:p>
            <a:pPr algn="ctr">
              <a:defRPr sz="800">
                <a:solidFill>
                  <a:srgbClr val="AAAABB"/>
                </a:solidFill>
              </a:defRPr>
            </a:pPr>
            <a:r>
              <a:t>FYP ON TRACK</a:t>
            </a:r>
            <a:br/>
            <a:r>
              <a:t>(SM COMP)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45720" cy="86868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1097280"/>
            <a:ext cx="2651760" cy="86868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11</a:t>
            </a:r>
          </a:p>
          <a:p>
            <a:pPr algn="ctr">
              <a:defRPr sz="800">
                <a:solidFill>
                  <a:srgbClr val="AAAABB"/>
                </a:solidFill>
              </a:defRPr>
            </a:pPr>
            <a:r>
              <a:t>MACs IN</a:t>
            </a:r>
            <a:br/>
            <a:r>
              <a:t>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097280"/>
            <a:ext cx="45720" cy="868680"/>
          </a:xfrm>
          <a:prstGeom prst="rect">
            <a:avLst/>
          </a:prstGeom>
          <a:solidFill>
            <a:srgbClr val="B4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148840"/>
            <a:ext cx="3657600" cy="2377440"/>
          </a:xfrm>
          <a:prstGeom prst="roundRect">
            <a:avLst/>
          </a:prstGeom>
          <a:solidFill>
            <a:srgbClr val="002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45720" cy="23774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945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Cost &amp; Compensation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Setup cost: ~410m/MAC (one-off, 100% sponsored)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Allowance paid to date: ~912m (8% FYP-based)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Total MAC scheme income: 54.5m across 8 MACs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Total SM+ compensation: 6.4m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0">
                <a:solidFill>
                  <a:srgbClr val="AAAABB"/>
                </a:solidFill>
              </a:defRPr>
            </a:pPr>
            <a:r>
              <a:t>Current total cost/FYP: ~68% (incl. setup)</a:t>
            </a:r>
          </a:p>
          <a:p>
            <a:pPr>
              <a:spcAft>
                <a:spcPts val="400"/>
              </a:spcAft>
              <a:defRPr sz="900" b="0">
                <a:solidFill>
                  <a:srgbClr val="00A758"/>
                </a:solidFill>
              </a:defRPr>
            </a:pPr>
            <a:r>
              <a:t>Excl. one-off setup: ~15% (allowance only)</a:t>
            </a:r>
          </a:p>
          <a:p>
            <a:pPr>
              <a:spcAft>
                <a:spcPts val="400"/>
              </a:spcAft>
              <a:defRPr sz="900" b="0">
                <a:solidFill>
                  <a:srgbClr val="00A758"/>
                </a:solidFill>
              </a:defRPr>
            </a:pPr>
            <a:r>
              <a:t>Target steady-state: ~13% vs. branch ~16-20%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148840"/>
            <a:ext cx="3657600" cy="2377440"/>
          </a:xfrm>
          <a:prstGeom prst="roundRect">
            <a:avLst/>
          </a:prstGeom>
          <a:solidFill>
            <a:srgbClr val="0F1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4206240" y="2148840"/>
            <a:ext cx="45720" cy="23774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1945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Quality &amp; MOC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6888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00A758"/>
                </a:solidFill>
              </a:defRPr>
            </a:pPr>
            <a:r>
              <a:t>Office quality: 8/8 Green</a:t>
            </a:r>
          </a:p>
          <a:p>
            <a:pPr>
              <a:spcAft>
                <a:spcPts val="400"/>
              </a:spcAft>
              <a:defRPr sz="900" b="0">
                <a:solidFill>
                  <a:srgbClr val="00A758"/>
                </a:solidFill>
              </a:defRPr>
            </a:pPr>
            <a:r>
              <a:t>DC check: 8/8 Pass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P13: Pass (MAC 06 &amp; 07); n/a for rest (too early)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FYP on track: 7/8 (all except MAC 01)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1">
                <a:solidFill>
                  <a:srgbClr val="E66464"/>
                </a:solidFill>
              </a:defRPr>
            </a:pPr>
            <a:r>
              <a:t>Alert: MAC 01 failed SM MOC (M9-M12)</a:t>
            </a:r>
          </a:p>
          <a:p>
            <a:pPr>
              <a:spcAft>
                <a:spcPts val="400"/>
              </a:spcAft>
              <a:defRPr sz="900" b="0">
                <a:solidFill>
                  <a:srgbClr val="AAAABB"/>
                </a:solidFill>
              </a:defRPr>
            </a:pPr>
            <a:r>
              <a:t>→ Guaranteed subsidy stopped per scheme rules</a:t>
            </a:r>
          </a:p>
          <a:p>
            <a:pPr>
              <a:spcAft>
                <a:spcPts val="400"/>
              </a:spcAft>
              <a:defRPr sz="900" b="0">
                <a:solidFill>
                  <a:srgbClr val="AAAABB"/>
                </a:solidFill>
              </a:defRPr>
            </a:pPr>
            <a:r>
              <a:t>→ Next review at M12; if demoted below SM → terminate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148840"/>
            <a:ext cx="3840480" cy="2377440"/>
          </a:xfrm>
          <a:prstGeom prst="roundRect">
            <a:avLst/>
          </a:prstGeom>
          <a:solidFill>
            <a:srgbClr val="321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8046720" y="2148840"/>
            <a:ext cx="45720" cy="23774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1945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Pipeline &amp;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74 nominees → 20 offers → 8 operational (7 opened)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2 awaiting confirmation (Thanh Sơn, Nam Định)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2 location approved (Bảy Hiền, Sơn La)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6 onboarding (Trà Vinh, Phố Nối, Quy Nhơn,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   Cẩm Phả, Pleiku, Đan Phượng)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1 under construction (Vĩnh Phúc — opening 05/03)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0">
                <a:solidFill>
                  <a:srgbClr val="F4A261"/>
                </a:solidFill>
              </a:defRPr>
            </a:pPr>
            <a:r>
              <a:t>Target: ~12-15 MACs operational by end H1'26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709160"/>
            <a:ext cx="11430000" cy="150876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365760" y="4709160"/>
            <a:ext cx="45720" cy="150876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758"/>
                </a:solidFill>
              </a:defRPr>
            </a:pPr>
            <a:r>
              <a:t>Pilot Assessment &amp;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00A758"/>
                </a:solidFill>
              </a:defRPr>
            </a:pPr>
            <a:r>
              <a:t>Overall: POSITIVE — 93% aggregate target, 5/8 above target,</a:t>
            </a:r>
          </a:p>
          <a:p>
            <a:pPr>
              <a:spcAft>
                <a:spcPts val="400"/>
              </a:spcAft>
              <a:defRPr sz="900" b="0">
                <a:solidFill>
                  <a:srgbClr val="00A758"/>
                </a:solidFill>
              </a:defRPr>
            </a:pPr>
            <a:r>
              <a:t>100% quality compliance, team building faster than normal GTF.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1">
                <a:solidFill>
                  <a:srgbClr val="FFFFFF"/>
                </a:solidFill>
              </a:defRPr>
            </a:pPr>
            <a:r>
              <a:t>Key ask: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1. Approve MAC for ongoing implementation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2. Launch Big MAC tier (DRD+, 150m2, higher targets)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3. Introduce Internal MAC for 16-17 branch closures in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2920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4A261"/>
                </a:solidFill>
              </a:defRPr>
            </a:pPr>
            <a:r>
              <a:t>Action items:</a:t>
            </a:r>
          </a:p>
          <a:p>
            <a:pPr>
              <a:spcAft>
                <a:spcPts val="400"/>
              </a:spcAft>
              <a:defRPr sz="900" b="0">
                <a:solidFill>
                  <a:srgbClr val="E66464"/>
                </a:solidFill>
              </a:defRPr>
            </a:pPr>
            <a:r>
              <a:t>• Performance plan for MAC 02 (57%) &amp; MAC 01 (MOC fail)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• Streamline location approval (current bottleneck: 2-3 months)</a:t>
            </a:r>
          </a:p>
          <a:p>
            <a:pPr>
              <a:spcAft>
                <a:spcPts val="400"/>
              </a:spcAft>
              <a:defRPr sz="900" b="0">
                <a:solidFill>
                  <a:srgbClr val="FFFFFF"/>
                </a:solidFill>
              </a:defRPr>
            </a:pPr>
            <a:r>
              <a:t>• Set higher 1mAA threshold for Big MAC (12/mth from M6)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900" b="0">
                <a:solidFill>
                  <a:srgbClr val="AAAABB"/>
                </a:solidFill>
              </a:defRPr>
            </a:pPr>
            <a:r>
              <a:t>Investment to date: ~4.2 bil across 8 MACs → 6.2 bil FYP</a:t>
            </a:r>
          </a:p>
          <a:p>
            <a:pPr>
              <a:spcAft>
                <a:spcPts val="400"/>
              </a:spcAft>
              <a:defRPr sz="900" b="0">
                <a:solidFill>
                  <a:srgbClr val="AAAABB"/>
                </a:solidFill>
              </a:defRPr>
            </a:pPr>
            <a:r>
              <a:t>Steady-state cost: ~13% FYP vs. branch model ~16-20%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00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Highly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