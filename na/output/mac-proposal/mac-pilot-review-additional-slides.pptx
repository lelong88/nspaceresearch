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74320"/>
            <a:ext cx="2011680" cy="274320"/>
          </a:xfrm>
          <a:prstGeom prst="roundRect">
            <a:avLst/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00A758"/>
                </a:solidFill>
              </a:defRPr>
            </a:pPr>
            <a:r>
              <a:t>PILOT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943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</a:defRPr>
            </a:pPr>
            <a:r>
              <a:t>MAC Performance Update as of Jan'26 — Enhanced View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2560320" cy="1005840"/>
          </a:xfrm>
          <a:prstGeom prst="round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200" b="1">
                <a:solidFill>
                  <a:srgbClr val="1A1A2E"/>
                </a:solidFill>
              </a:defRPr>
            </a:pPr>
            <a:r>
              <a:t>6,195</a:t>
            </a:r>
          </a:p>
          <a:p>
            <a:pPr algn="ctr">
              <a:defRPr sz="900">
                <a:solidFill>
                  <a:srgbClr val="666666"/>
                </a:solidFill>
              </a:defRPr>
            </a:pPr>
            <a:r>
              <a:t>TOTAL FYP (MIL VND)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54864" cy="1005840"/>
          </a:xfrm>
          <a:prstGeom prst="rect">
            <a:avLst/>
          </a:prstGeom>
          <a:solidFill>
            <a:srgbClr val="00A7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200400" y="1097280"/>
            <a:ext cx="2560320" cy="1005840"/>
          </a:xfrm>
          <a:prstGeom prst="round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200" b="1">
                <a:solidFill>
                  <a:srgbClr val="1A1A2E"/>
                </a:solidFill>
              </a:defRPr>
            </a:pPr>
            <a:r>
              <a:t>93%</a:t>
            </a:r>
          </a:p>
          <a:p>
            <a:pPr algn="ctr">
              <a:defRPr sz="900">
                <a:solidFill>
                  <a:srgbClr val="666666"/>
                </a:solidFill>
              </a:defRPr>
            </a:pPr>
            <a:r>
              <a:t>AVG TARGET ACHIEVED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097280"/>
            <a:ext cx="54864" cy="1005840"/>
          </a:xfrm>
          <a:prstGeom prst="rect">
            <a:avLst/>
          </a:prstGeom>
          <a:solidFill>
            <a:srgbClr val="007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43600" y="1097280"/>
            <a:ext cx="2560320" cy="1005840"/>
          </a:xfrm>
          <a:prstGeom prst="round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200" b="1">
                <a:solidFill>
                  <a:srgbClr val="1A1A2E"/>
                </a:solidFill>
              </a:defRPr>
            </a:pPr>
            <a:r>
              <a:t>139</a:t>
            </a:r>
          </a:p>
          <a:p>
            <a:pPr algn="ctr">
              <a:defRPr sz="900">
                <a:solidFill>
                  <a:srgbClr val="666666"/>
                </a:solidFill>
              </a:defRPr>
            </a:pPr>
            <a:r>
              <a:t>NEW RECRUITS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0" y="1097280"/>
            <a:ext cx="54864" cy="100584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0" y="1097280"/>
            <a:ext cx="2560320" cy="1005840"/>
          </a:xfrm>
          <a:prstGeom prst="round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200" b="1">
                <a:solidFill>
                  <a:srgbClr val="1A1A2E"/>
                </a:solidFill>
              </a:defRPr>
            </a:pPr>
            <a:r>
              <a:t>218</a:t>
            </a:r>
          </a:p>
          <a:p>
            <a:pPr algn="ctr">
              <a:defRPr sz="900">
                <a:solidFill>
                  <a:srgbClr val="666666"/>
                </a:solidFill>
              </a:defRPr>
            </a:pPr>
            <a:r>
              <a:t>1MAA HEADCOUNT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0" y="1097280"/>
            <a:ext cx="54864" cy="1005840"/>
          </a:xfrm>
          <a:prstGeom prst="rect">
            <a:avLst/>
          </a:prstGeom>
          <a:solidFill>
            <a:srgbClr val="00A7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274320" y="2286000"/>
          <a:ext cx="116128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1288"/>
                <a:gridCol w="1161288"/>
                <a:gridCol w="1161288"/>
                <a:gridCol w="1161288"/>
                <a:gridCol w="1161288"/>
                <a:gridCol w="1161288"/>
                <a:gridCol w="1161288"/>
                <a:gridCol w="1161288"/>
                <a:gridCol w="1161288"/>
                <a:gridCol w="1161288"/>
              </a:tblGrid>
              <a:tr h="292608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MAC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Name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FYP</a:t>
                      </a:r>
                    </a:p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(mil)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(mil)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%Ach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NR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1mAA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CC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Verdict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Ecopark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May'25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1,254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Below target — ramp-up slower than expected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02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Quảng Yên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Aug'25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458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810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57%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20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25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Underperforming — needs action plan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Đạ Tẻh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Sep'25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429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570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75%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Moderate — strong recruitment, FYP lagging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04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Diễn Châu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Sep'25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986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570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173%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22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33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53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Star performer — exceeds all targets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Vị Thanh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Sep'25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698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570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122%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Strong — above target with good NR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06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Yên Bái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Oct'25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767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1,050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73%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37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44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Below target — high 1mAA but low FYP conversion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Thủ Đức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Nov'25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1,477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1,148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129%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Strong — urban market advantage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08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Vĩnh Phúc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Dec'25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127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120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106%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On track — too early (1 month data)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6,195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6,638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93%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218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311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457200" y="5394960"/>
            <a:ext cx="5486400" cy="822960"/>
          </a:xfrm>
          <a:prstGeom prst="roundRect">
            <a:avLst/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200" b="0">
                <a:solidFill>
                  <a:srgbClr val="1A1A2E"/>
                </a:solidFill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594360" y="5440680"/>
            <a:ext cx="5212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A758"/>
                </a:solidFill>
              </a:defRPr>
            </a:pPr>
            <a:r>
              <a:t>Assessment: Overall POSITIVE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566928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</a:defRPr>
            </a:pPr>
            <a:r>
              <a:t>5 of 8 MACs at or above target (63%). Aggregate 93% achievement in first months of operation is encouraging given ramp-up phase. MAC 04 &amp; 07 are clear success stories.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5394960"/>
            <a:ext cx="5486400" cy="822960"/>
          </a:xfrm>
          <a:prstGeom prst="roundRect">
            <a:avLst/>
          </a:prstGeom>
          <a:solidFill>
            <a:srgbClr val="FF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200" b="0">
                <a:solidFill>
                  <a:srgbClr val="1A1A2E"/>
                </a:solidFill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355080" y="5440680"/>
            <a:ext cx="5212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4A261"/>
                </a:solidFill>
              </a:defRPr>
            </a:pPr>
            <a:r>
              <a:t>Action Required: MAC 02 &amp; 06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566928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</a:defRPr>
            </a:pPr>
            <a:r>
              <a:t>MAC 02 (57%) and MAC 06 (73%) need performance improvement plans. Root cause: MAC 02 had zero FYP in M01; MAC 06 has high team size but low FYP conversion rate.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008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66666"/>
                </a:solidFill>
              </a:defRPr>
            </a:pPr>
            <a:r>
              <a:t>III Manulife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008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</a:defRPr>
            </a:pPr>
            <a:r>
              <a:t>Highly Confidential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74320"/>
            <a:ext cx="2011680" cy="274320"/>
          </a:xfrm>
          <a:prstGeom prst="roundRect">
            <a:avLst/>
          </a:prstGeom>
          <a:solidFill>
            <a:srgbClr val="E0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0073CF"/>
                </a:solidFill>
              </a:defRPr>
            </a:pPr>
            <a:r>
              <a:t>BENCHMARK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943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</a:defRPr>
            </a:pPr>
            <a:r>
              <a:t>FYP Actual vs. Target — Monthly Phasing by MAC Office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1161288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3298"/>
                <a:gridCol w="893298"/>
                <a:gridCol w="893298"/>
                <a:gridCol w="893298"/>
                <a:gridCol w="893298"/>
                <a:gridCol w="893298"/>
                <a:gridCol w="893298"/>
                <a:gridCol w="893298"/>
                <a:gridCol w="893298"/>
                <a:gridCol w="893298"/>
                <a:gridCol w="893298"/>
                <a:gridCol w="893298"/>
                <a:gridCol w="893304"/>
              </a:tblGrid>
              <a:tr h="292608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MAC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M01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M02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M03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M04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M05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M06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M07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M08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M09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Total</a:t>
                      </a:r>
                    </a:p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FYP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Total</a:t>
                      </a:r>
                    </a:p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%Ach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459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222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329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1,254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02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52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34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64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109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199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458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810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57%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429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570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75%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04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90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164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233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270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174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55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986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570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173%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253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698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570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122%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06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187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260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137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154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28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767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1,050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73%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438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431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390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218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1,477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1,148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129%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08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66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61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127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120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106%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9319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66666"/>
                </a:solidFill>
              </a:defRPr>
            </a:pPr>
            <a:r>
              <a:t>Note: Values in mil VND. '—' = not yet operational or no data. M01 = first month after MAC contract date.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976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73CF"/>
                </a:solidFill>
              </a:defRPr>
            </a:pPr>
            <a:r>
              <a:t>Quarterly FYP Phasing Pattern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4663440"/>
          <a:ext cx="530352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</a:tblGrid>
              <a:tr h="292608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Quarter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Total FYP (mil)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# Active MACs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Avg FYP/MAC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Q1 (M01-M03)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4,113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514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Q2 (M04-M06)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1,812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7*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259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Q3 (M07-M09)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2*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217920" y="4297680"/>
            <a:ext cx="5486400" cy="1828800"/>
          </a:xfrm>
          <a:prstGeom prst="roundRect">
            <a:avLst/>
          </a:prstGeom>
          <a:solidFill>
            <a:srgbClr val="FF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200" b="0">
                <a:solidFill>
                  <a:srgbClr val="1A1A2E"/>
                </a:solidFill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355080" y="4343400"/>
            <a:ext cx="5212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4A261"/>
                </a:solidFill>
              </a:defRPr>
            </a:pPr>
            <a:r>
              <a:t>Key Observations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4617720"/>
            <a:ext cx="5212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1A1A2E"/>
                </a:solidFill>
              </a:defRPr>
            </a:pPr>
            <a:r>
              <a:t>• Q2 FYP drops significantly — typical ramp-down after initial burst from transferred book</a:t>
            </a:r>
          </a:p>
          <a:p>
            <a:pPr>
              <a:spcAft>
                <a:spcPts val="400"/>
              </a:spcAft>
              <a:defRPr sz="900" b="0">
                <a:solidFill>
                  <a:srgbClr val="E63946"/>
                </a:solidFill>
              </a:defRPr>
            </a:pPr>
            <a:r>
              <a:t>• MAC 01 shows volatile pattern: strong M02 (459m) then sharp drop M05 (19m) — needs investigation</a:t>
            </a:r>
          </a:p>
          <a:p>
            <a:pPr>
              <a:spcAft>
                <a:spcPts val="400"/>
              </a:spcAft>
              <a:defRPr sz="900" b="0">
                <a:solidFill>
                  <a:srgbClr val="00A758"/>
                </a:solidFill>
              </a:defRPr>
            </a:pPr>
            <a:r>
              <a:t>• MAC 04 consistently strong across all months — best practice case study</a:t>
            </a:r>
          </a:p>
          <a:p>
            <a:pPr>
              <a:spcAft>
                <a:spcPts val="400"/>
              </a:spcAft>
              <a:defRPr sz="900" b="0">
                <a:solidFill>
                  <a:srgbClr val="666666"/>
                </a:solidFill>
              </a:defRPr>
            </a:pPr>
            <a:r>
              <a:t>• *Not all MACs active full period; newer MACs have fewer months of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008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66666"/>
                </a:solidFill>
              </a:defRPr>
            </a:pPr>
            <a:r>
              <a:t>III Manulife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008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</a:defRPr>
            </a:pPr>
            <a:r>
              <a:t>Highly Confidential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74320"/>
            <a:ext cx="2011680" cy="274320"/>
          </a:xfrm>
          <a:prstGeom prst="roundRect">
            <a:avLst/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00A758"/>
                </a:solidFill>
              </a:defRPr>
            </a:pPr>
            <a:r>
              <a:t>COST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943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</a:defRPr>
            </a:pPr>
            <a:r>
              <a:t>MAC Total Cost to Date vs. FYP Production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2560320" cy="1005840"/>
          </a:xfrm>
          <a:prstGeom prst="round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200" b="1">
                <a:solidFill>
                  <a:srgbClr val="1A1A2E"/>
                </a:solidFill>
              </a:defRPr>
            </a:pPr>
            <a:r>
              <a:t>6,195m</a:t>
            </a:r>
          </a:p>
          <a:p>
            <a:pPr algn="ctr">
              <a:defRPr sz="900">
                <a:solidFill>
                  <a:srgbClr val="666666"/>
                </a:solidFill>
              </a:defRPr>
            </a:pPr>
            <a:r>
              <a:t>TOTAL FYP PRODUCED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54864" cy="1005840"/>
          </a:xfrm>
          <a:prstGeom prst="rect">
            <a:avLst/>
          </a:prstGeom>
          <a:solidFill>
            <a:srgbClr val="00A7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200400" y="1097280"/>
            <a:ext cx="2560320" cy="1005840"/>
          </a:xfrm>
          <a:prstGeom prst="round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200" b="1">
                <a:solidFill>
                  <a:srgbClr val="1A1A2E"/>
                </a:solidFill>
              </a:defRPr>
            </a:pPr>
            <a:r>
              <a:t>~1,015m</a:t>
            </a:r>
          </a:p>
          <a:p>
            <a:pPr algn="ctr">
              <a:defRPr sz="900">
                <a:solidFill>
                  <a:srgbClr val="666666"/>
                </a:solidFill>
              </a:defRPr>
            </a:pPr>
            <a:r>
              <a:t>TOTAL ALLOWANCE PAID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097280"/>
            <a:ext cx="54864" cy="100584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43600" y="1097280"/>
            <a:ext cx="2560320" cy="1005840"/>
          </a:xfrm>
          <a:prstGeom prst="round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200" b="1">
                <a:solidFill>
                  <a:srgbClr val="1A1A2E"/>
                </a:solidFill>
              </a:defRPr>
            </a:pPr>
            <a:r>
              <a:t>~3,280m</a:t>
            </a:r>
          </a:p>
          <a:p>
            <a:pPr algn="ctr">
              <a:defRPr sz="900">
                <a:solidFill>
                  <a:srgbClr val="666666"/>
                </a:solidFill>
              </a:defRPr>
            </a:pPr>
            <a:r>
              <a:t>SETUP COST (8 MACs)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0" y="1097280"/>
            <a:ext cx="54864" cy="1005840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0" y="1097280"/>
            <a:ext cx="2560320" cy="1005840"/>
          </a:xfrm>
          <a:prstGeom prst="round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200" b="1">
                <a:solidFill>
                  <a:srgbClr val="1A1A2E"/>
                </a:solidFill>
              </a:defRPr>
            </a:pPr>
            <a:r>
              <a:t>~16%</a:t>
            </a:r>
          </a:p>
          <a:p>
            <a:pPr algn="ctr">
              <a:defRPr sz="900">
                <a:solidFill>
                  <a:srgbClr val="666666"/>
                </a:solidFill>
              </a:defRPr>
            </a:pPr>
            <a:r>
              <a:t>TOTAL COST / FYP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0" y="1097280"/>
            <a:ext cx="54864" cy="1005840"/>
          </a:xfrm>
          <a:prstGeom prst="rect">
            <a:avLst/>
          </a:prstGeom>
          <a:solidFill>
            <a:srgbClr val="007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274320" y="2286000"/>
          <a:ext cx="116128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8982"/>
                <a:gridCol w="1658982"/>
                <a:gridCol w="1658982"/>
                <a:gridCol w="1658982"/>
                <a:gridCol w="1658982"/>
                <a:gridCol w="1658982"/>
                <a:gridCol w="1658988"/>
              </a:tblGrid>
              <a:tr h="292608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MAC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FYP</a:t>
                      </a:r>
                    </a:p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(mil)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Setup Cost</a:t>
                      </a:r>
                    </a:p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(est. mil)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Monthly</a:t>
                      </a:r>
                    </a:p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Allowance</a:t>
                      </a:r>
                    </a:p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Paid (mil)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Total Cost</a:t>
                      </a:r>
                    </a:p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(mil)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Cost/FYP</a:t>
                      </a:r>
                    </a:p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Ratio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Months</a:t>
                      </a:r>
                    </a:p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01 Ecopark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1,254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410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224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634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51%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02 Quảng Yên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458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410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510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111%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03 Đạ Tẻh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429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410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570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133%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04 Diễn Châu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986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410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140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550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56%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05 Vị Thanh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698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410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570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82%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06 Yên Bái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767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410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84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494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64%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07 Thủ Đức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1,477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410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454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31%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08 Vĩnh Phúc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127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410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410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323%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6,195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3,280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912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4,192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68%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457200" y="5303520"/>
            <a:ext cx="5486400" cy="914400"/>
          </a:xfrm>
          <a:prstGeom prst="roundRect">
            <a:avLst/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200" b="0">
                <a:solidFill>
                  <a:srgbClr val="1A1A2E"/>
                </a:solidFill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594360" y="5349240"/>
            <a:ext cx="5212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A758"/>
                </a:solidFill>
              </a:defRPr>
            </a:pPr>
            <a:r>
              <a:t>Cost Efficiency Improving Over 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5577840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</a:defRPr>
            </a:pPr>
            <a:r>
              <a:t>Setup costs are one-off (410m/MAC). As FYP accumulates, cost/FYP ratio will decline. MAC 07 already at 31% after just 4 months. Target: &lt;13% ongoing (8% FYP allowance + overhead).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5303520"/>
            <a:ext cx="5486400" cy="914400"/>
          </a:xfrm>
          <a:prstGeom prst="roundRect">
            <a:avLst/>
          </a:prstGeom>
          <a:solidFill>
            <a:srgbClr val="FDE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200" b="0">
                <a:solidFill>
                  <a:srgbClr val="1A1A2E"/>
                </a:solidFill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355080" y="5349240"/>
            <a:ext cx="5212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63946"/>
                </a:solidFill>
              </a:defRPr>
            </a:pPr>
            <a:r>
              <a:t>Watch: MAC 02, 03, 08 High Cost Ratios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5577840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</a:defRPr>
            </a:pPr>
            <a:r>
              <a:t>MAC 08 (323%) is expected — only 1 month old. MAC 02 (111%) and MAC 03 (133%) need FYP acceleration to justify investment. If trend continues, review at M12 checkpoint.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008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66666"/>
                </a:solidFill>
              </a:defRPr>
            </a:pPr>
            <a:r>
              <a:t>III Manulife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008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</a:defRPr>
            </a:pPr>
            <a:r>
              <a:t>Highly Confidential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74320"/>
            <a:ext cx="2011680" cy="274320"/>
          </a:xfrm>
          <a:prstGeom prst="roundRect">
            <a:avLst/>
          </a:prstGeom>
          <a:solidFill>
            <a:srgbClr val="E0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0073CF"/>
                </a:solidFill>
              </a:defRPr>
            </a:pPr>
            <a:r>
              <a:t>PERFORMANCE RANKING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943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</a:defRPr>
            </a:pPr>
            <a:r>
              <a:t>Best vs. Worst MAC Performers —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A758"/>
                </a:solidFill>
              </a:defRPr>
            </a:pPr>
            <a:r>
              <a:t>Top Performers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463040"/>
          <a:ext cx="56692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9897"/>
                <a:gridCol w="809897"/>
                <a:gridCol w="809897"/>
                <a:gridCol w="809897"/>
                <a:gridCol w="809897"/>
                <a:gridCol w="809897"/>
                <a:gridCol w="809898"/>
              </a:tblGrid>
              <a:tr h="292608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Rank</a:t>
                      </a:r>
                    </a:p>
                  </a:txBody>
                  <a:tcPr>
                    <a:solidFill>
                      <a:srgbClr val="00A75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MAC</a:t>
                      </a:r>
                    </a:p>
                  </a:txBody>
                  <a:tcPr>
                    <a:solidFill>
                      <a:srgbClr val="00A75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% Target</a:t>
                      </a:r>
                    </a:p>
                  </a:txBody>
                  <a:tcPr>
                    <a:solidFill>
                      <a:srgbClr val="00A75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FYP (mil)</a:t>
                      </a:r>
                    </a:p>
                  </a:txBody>
                  <a:tcPr>
                    <a:solidFill>
                      <a:srgbClr val="00A75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NR</a:t>
                      </a:r>
                    </a:p>
                  </a:txBody>
                  <a:tcPr>
                    <a:solidFill>
                      <a:srgbClr val="00A75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1mAA</a:t>
                      </a:r>
                    </a:p>
                  </a:txBody>
                  <a:tcPr>
                    <a:solidFill>
                      <a:srgbClr val="00A75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Key Strength</a:t>
                      </a:r>
                    </a:p>
                  </a:txBody>
                  <a:tcPr>
                    <a:solidFill>
                      <a:srgbClr val="00A75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04 Diễn Châu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173%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986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Consistent monthly production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07 Thủ Đức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129%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1,477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25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45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Highest absolute FYP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05 Vị Thanh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122%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698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Strong recruitment engine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08 Vĩnh Phúc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106%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127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On track (early stage)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217920" y="10972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63946"/>
                </a:solidFill>
              </a:defRPr>
            </a:pPr>
            <a:r>
              <a:t>Underperformers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0" y="1463040"/>
          <a:ext cx="5943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90600"/>
                <a:gridCol w="990600"/>
                <a:gridCol w="990600"/>
                <a:gridCol w="990600"/>
                <a:gridCol w="990600"/>
                <a:gridCol w="990600"/>
              </a:tblGrid>
              <a:tr h="292608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Rank</a:t>
                      </a:r>
                    </a:p>
                  </a:txBody>
                  <a:tcPr>
                    <a:solidFill>
                      <a:srgbClr val="E639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MAC</a:t>
                      </a:r>
                    </a:p>
                  </a:txBody>
                  <a:tcPr>
                    <a:solidFill>
                      <a:srgbClr val="E639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% Target</a:t>
                      </a:r>
                    </a:p>
                  </a:txBody>
                  <a:tcPr>
                    <a:solidFill>
                      <a:srgbClr val="E639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FYP (mil)</a:t>
                      </a:r>
                    </a:p>
                  </a:txBody>
                  <a:tcPr>
                    <a:solidFill>
                      <a:srgbClr val="E639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Issue</a:t>
                      </a:r>
                    </a:p>
                  </a:txBody>
                  <a:tcPr>
                    <a:solidFill>
                      <a:srgbClr val="E639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Action Plan</a:t>
                      </a:r>
                    </a:p>
                  </a:txBody>
                  <a:tcPr>
                    <a:solidFill>
                      <a:srgbClr val="E6394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02 Quảng Yên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57%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458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Zero M01, volatile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Assign mentor SM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01 Ecopark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70%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1,254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Sharp M05-M08 drop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Review team attrition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06 Yên Bái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73%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767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Low FYP conversion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Increase activity mgmt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03 Đạ Tẻh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75%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429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FYP dropped to 0 in M06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Investigate root cause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657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73CF"/>
                </a:solidFill>
              </a:defRPr>
            </a:pPr>
            <a:r>
              <a:t>What Differentiates Top from Bottom?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023360"/>
            <a:ext cx="3566160" cy="2103120"/>
          </a:xfrm>
          <a:prstGeom prst="round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200" b="0">
                <a:solidFill>
                  <a:srgbClr val="1A1A2E"/>
                </a:solidFill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594360" y="411480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A1A2E"/>
                </a:solidFill>
              </a:defRPr>
            </a:pPr>
            <a:r>
              <a:t>Market Type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38912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</a:defRPr>
            </a:pPr>
            <a:r>
              <a:t>Urban MACs (Thủ Đức, Ecopark) generate higher absolute FYP but rural MACs (Diễn Châu, Vị Thanh) show better target achievement — suggesting targets may need recalibration by market type.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4023360"/>
            <a:ext cx="3566160" cy="2103120"/>
          </a:xfrm>
          <a:prstGeom prst="round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200" b="0">
                <a:solidFill>
                  <a:srgbClr val="1A1A2E"/>
                </a:solidFill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4434840" y="411480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A1A2E"/>
                </a:solidFill>
              </a:defRPr>
            </a:pPr>
            <a:r>
              <a:t>Recruitment Quality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438912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</a:defRPr>
            </a:pPr>
            <a:r>
              <a:t>Top MACs maintain steady monthly recruitment (4-9 NR/month). Underperformers show spiky patterns — bursts followed by zero months. Consistency matters more than volume.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4023360"/>
            <a:ext cx="3566160" cy="2103120"/>
          </a:xfrm>
          <a:prstGeom prst="round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200" b="0">
                <a:solidFill>
                  <a:srgbClr val="1A1A2E"/>
                </a:solidFill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275320" y="411480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A1A2E"/>
                </a:solidFill>
              </a:defRPr>
            </a:pPr>
            <a:r>
              <a:t>Leader Experience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438912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</a:defRPr>
            </a:pPr>
            <a:r>
              <a:t>MAC 04 &amp; 05 under RH K8536/Y8847 with strong industry background. MAC 02 struggles despite same RH — location-specific challenges (Quảng Ninh market saturation).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008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66666"/>
                </a:solidFill>
              </a:defRPr>
            </a:pPr>
            <a:r>
              <a:t>III Manulife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64008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</a:defRPr>
            </a:pPr>
            <a:r>
              <a:t>Highly Confidential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74320"/>
            <a:ext cx="2011680" cy="274320"/>
          </a:xfrm>
          <a:prstGeom prst="roundRect">
            <a:avLst/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00A758"/>
                </a:solidFill>
              </a:defRPr>
            </a:pPr>
            <a:r>
              <a:t>TEAM GROWTH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943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</a:defRPr>
            </a:pPr>
            <a:r>
              <a:t>Team Size Growth Trajectory — 1mAA &amp; New Recruits by Month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116128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0320"/>
                <a:gridCol w="1290320"/>
                <a:gridCol w="1290320"/>
                <a:gridCol w="1290320"/>
                <a:gridCol w="1290320"/>
                <a:gridCol w="1290320"/>
                <a:gridCol w="1290320"/>
                <a:gridCol w="1290320"/>
                <a:gridCol w="1290320"/>
              </a:tblGrid>
              <a:tr h="292608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M01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M02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M03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M04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M05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M06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M07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Total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New Recruits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165*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1mAA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40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45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59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38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CC (Case Count)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311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Active MACs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2743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66666"/>
                </a:solidFill>
              </a:defRPr>
            </a:pPr>
            <a:r>
              <a:t>*Cumulative NR from monthly data; total NR to date = 139 (some agents counted in contracted month, not monthly breakdown). Suggest: line chart overlay in PPT.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004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73CF"/>
                </a:solidFill>
              </a:defRPr>
            </a:pPr>
            <a:r>
              <a:t>Recruitment by MAC (Cumulative)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3566160"/>
          <a:ext cx="566928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880"/>
                <a:gridCol w="944880"/>
                <a:gridCol w="944880"/>
                <a:gridCol w="944880"/>
                <a:gridCol w="944880"/>
                <a:gridCol w="944880"/>
              </a:tblGrid>
              <a:tr h="292608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MAC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NR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1mAA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CC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NR/Month</a:t>
                      </a:r>
                    </a:p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(avg)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Team</a:t>
                      </a:r>
                    </a:p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Build Rate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01 Ecopark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Slow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02 Quảng Yên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20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25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1.3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Slow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03 Đạ Tẻh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4.5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Fast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04 Diễn Châu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22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33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53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3.7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Fast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05 Vị Thanh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4.7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Fast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06 Yên Bái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37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44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2.4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Moderate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07 Thủ Đức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6.3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Very Fast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08 Vĩnh Phúc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4.0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Early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217920" y="3200400"/>
            <a:ext cx="5486400" cy="2926080"/>
          </a:xfrm>
          <a:prstGeom prst="roundRect">
            <a:avLst/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200" b="0">
                <a:solidFill>
                  <a:srgbClr val="1A1A2E"/>
                </a:solidFill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355080" y="3246120"/>
            <a:ext cx="5212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A758"/>
                </a:solidFill>
              </a:defRPr>
            </a:pPr>
            <a:r>
              <a:t>Team Size vs. Normal GTF Benchmark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3520440"/>
            <a:ext cx="52120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0073CF"/>
                </a:solidFill>
              </a:defRPr>
            </a:pPr>
            <a:r>
              <a:t>Typical GTF SM team after 6 months: 8-12 agents</a:t>
            </a:r>
          </a:p>
          <a:p>
            <a:pPr>
              <a:spcAft>
                <a:spcPts val="400"/>
              </a:spcAft>
              <a:defRPr sz="9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900" b="0">
                <a:solidFill>
                  <a:srgbClr val="00A758"/>
                </a:solidFill>
              </a:defRPr>
            </a:pPr>
            <a:r>
              <a:t>• MAC 07 (45 1mAA in 4 months) — significantly above benchmark</a:t>
            </a:r>
          </a:p>
          <a:p>
            <a:pPr>
              <a:spcAft>
                <a:spcPts val="400"/>
              </a:spcAft>
              <a:defRPr sz="900" b="0">
                <a:solidFill>
                  <a:srgbClr val="00A758"/>
                </a:solidFill>
              </a:defRPr>
            </a:pPr>
            <a:r>
              <a:t>• MAC 04 (33 1mAA in 6 months) — above benchmark</a:t>
            </a:r>
          </a:p>
          <a:p>
            <a:pPr>
              <a:spcAft>
                <a:spcPts val="400"/>
              </a:spcAft>
              <a:defRPr sz="900" b="0">
                <a:solidFill>
                  <a:srgbClr val="00A758"/>
                </a:solidFill>
              </a:defRPr>
            </a:pPr>
            <a:r>
              <a:t>• MAC 05 (33 1mAA in 6 months) — above benchmark</a:t>
            </a:r>
          </a:p>
          <a:p>
            <a:pPr>
              <a:spcAft>
                <a:spcPts val="400"/>
              </a:spcAft>
              <a:defRPr sz="900" b="0">
                <a:solidFill>
                  <a:srgbClr val="00A758"/>
                </a:solidFill>
              </a:defRPr>
            </a:pPr>
            <a:r>
              <a:t>• MAC 06 (37 1mAA in 5 months) — above benchmark</a:t>
            </a:r>
          </a:p>
          <a:p>
            <a:pPr>
              <a:spcAft>
                <a:spcPts val="400"/>
              </a:spcAft>
              <a:defRPr sz="900" b="0">
                <a:solidFill>
                  <a:srgbClr val="E63946"/>
                </a:solidFill>
              </a:defRPr>
            </a:pPr>
            <a:r>
              <a:t>• MAC 01 (19 1mAA in 9 months) — below benchmark pace</a:t>
            </a:r>
          </a:p>
          <a:p>
            <a:pPr>
              <a:spcAft>
                <a:spcPts val="400"/>
              </a:spcAft>
              <a:defRPr sz="900" b="0">
                <a:solidFill>
                  <a:srgbClr val="F4A261"/>
                </a:solidFill>
              </a:defRPr>
            </a:pPr>
            <a:r>
              <a:t>• MAC 02 (20 1mAA in 6 months) — at benchmark</a:t>
            </a:r>
          </a:p>
          <a:p>
            <a:pPr>
              <a:spcAft>
                <a:spcPts val="400"/>
              </a:spcAft>
              <a:defRPr sz="9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900" b="0">
                <a:solidFill>
                  <a:srgbClr val="1A1A2E"/>
                </a:solidFill>
              </a:defRPr>
            </a:pPr>
            <a:r>
              <a:t>Insight: MAC model attracts faster team building than normal GTF due to dedicated office presence and local market focus.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008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66666"/>
                </a:solidFill>
              </a:defRPr>
            </a:pPr>
            <a:r>
              <a:t>III Manulife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008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</a:defRPr>
            </a:pPr>
            <a:r>
              <a:t>Highly Confidential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74320"/>
            <a:ext cx="2011680" cy="274320"/>
          </a:xfrm>
          <a:prstGeom prst="roundRect">
            <a:avLst/>
          </a:prstGeom>
          <a:solidFill>
            <a:srgbClr val="FDE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E63946"/>
                </a:solidFill>
              </a:defRPr>
            </a:pPr>
            <a:r>
              <a:t>QUALITY TRACKING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943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</a:defRPr>
            </a:pPr>
            <a:r>
              <a:t>Sales Quality Indicators &amp; MOC Status — All 8 MACs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1161288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1610"/>
                <a:gridCol w="1451610"/>
                <a:gridCol w="1451610"/>
                <a:gridCol w="1451610"/>
                <a:gridCol w="1451610"/>
                <a:gridCol w="1451610"/>
                <a:gridCol w="1451610"/>
                <a:gridCol w="1451610"/>
              </a:tblGrid>
              <a:tr h="292608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MAC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Office</a:t>
                      </a:r>
                    </a:p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Quality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DC</a:t>
                      </a:r>
                    </a:p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Check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FYP %</a:t>
                      </a:r>
                    </a:p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M1-M3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FYP %</a:t>
                      </a:r>
                    </a:p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M4-M6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SM MOC</a:t>
                      </a:r>
                    </a:p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P13</a:t>
                      </a:r>
                    </a:p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Overall</a:t>
                      </a:r>
                    </a:p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Rating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01 Ecopark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Green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369%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Fail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⚠ Watch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02 Quảng Yên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Green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41%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62%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⚠ Watch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03 Đạ Tẻh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Green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167%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⚠ Watch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04 Diễn Châu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Green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232%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83%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✓ Good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05 Vị Thanh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Green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211%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42%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✓ Good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06 Yên Bái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Green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76%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19%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✓ Good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07 Thủ Đức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Green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✓ Good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08 Vĩnh Phúc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Green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60%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Early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657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73CF"/>
                </a:solidFill>
              </a:defRPr>
            </a:pPr>
            <a:r>
              <a:t>MOC Tracking Summary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4023360"/>
          <a:ext cx="566928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880"/>
                <a:gridCol w="944880"/>
                <a:gridCol w="944880"/>
                <a:gridCol w="944880"/>
                <a:gridCol w="944880"/>
                <a:gridCol w="944880"/>
              </a:tblGrid>
              <a:tr h="292608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MAC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FYP</a:t>
                      </a:r>
                    </a:p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Ontrack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SM MOC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Office</a:t>
                      </a:r>
                    </a:p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Quality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DC/P13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Overall</a:t>
                      </a:r>
                    </a:p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MAC Status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01 Ecopark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Ontrack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Fail (M9-M12)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Green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At Risk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02 Quảng Yên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Ontrack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Green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On Track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03 Đạ Tẻh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Ontrack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Green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On Track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04 Diễn Châu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Ontrack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Green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On Track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05 Vị Thanh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Ontrack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Green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On Track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06 Yên Bái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Ontrack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Green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On Track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07 Thủ Đức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Ontrack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Green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On Track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08 Vĩnh Phúc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Ontrack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Green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On Track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217920" y="3657600"/>
            <a:ext cx="5486400" cy="1280160"/>
          </a:xfrm>
          <a:prstGeom prst="roundRect">
            <a:avLst/>
          </a:prstGeom>
          <a:solidFill>
            <a:srgbClr val="FDE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200" b="0">
                <a:solidFill>
                  <a:srgbClr val="1A1A2E"/>
                </a:solidFill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6355080" y="3703320"/>
            <a:ext cx="5212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63946"/>
                </a:solidFill>
              </a:defRPr>
            </a:pPr>
            <a:r>
              <a:t>Alert: MAC 01 SM MOC Failure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3977639"/>
            <a:ext cx="5212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E63946"/>
                </a:solidFill>
              </a:defRPr>
            </a:pPr>
            <a:r>
              <a:t>• MAC 01 (Ecopark) failed SM MOC at M9-M12 checkpoint</a:t>
            </a:r>
          </a:p>
          <a:p>
            <a:pPr>
              <a:spcAft>
                <a:spcPts val="400"/>
              </a:spcAft>
              <a:defRPr sz="900" b="0">
                <a:solidFill>
                  <a:srgbClr val="1A1A2E"/>
                </a:solidFill>
              </a:defRPr>
            </a:pPr>
            <a:r>
              <a:t>• Per MAC validation rules: MAC contract maintained, but guaranteed office subsidy stopped</a:t>
            </a:r>
          </a:p>
          <a:p>
            <a:pPr>
              <a:spcAft>
                <a:spcPts val="400"/>
              </a:spcAft>
              <a:defRPr sz="900" b="0">
                <a:solidFill>
                  <a:srgbClr val="1A1A2E"/>
                </a:solidFill>
              </a:defRPr>
            </a:pPr>
            <a:r>
              <a:t>• Action: Performance improvement plan in place; next review at M12</a:t>
            </a:r>
          </a:p>
          <a:p>
            <a:pPr>
              <a:spcAft>
                <a:spcPts val="400"/>
              </a:spcAft>
              <a:defRPr sz="900" b="0">
                <a:solidFill>
                  <a:srgbClr val="1A1A2E"/>
                </a:solidFill>
              </a:defRPr>
            </a:pPr>
            <a:r>
              <a:t>• If demoted below SM rank → MAC contract terminated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5120640"/>
            <a:ext cx="5486400" cy="1097280"/>
          </a:xfrm>
          <a:prstGeom prst="roundRect">
            <a:avLst/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200" b="0">
                <a:solidFill>
                  <a:srgbClr val="1A1A2E"/>
                </a:solidFill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55080" y="5166360"/>
            <a:ext cx="5212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A758"/>
                </a:solidFill>
              </a:defRPr>
            </a:pPr>
            <a:r>
              <a:t>Positive: All MACs Pass Quality &amp; DC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544068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00A758"/>
                </a:solidFill>
              </a:defRPr>
            </a:pPr>
            <a:r>
              <a:t>• 100% Green office quality across all 8 MACs</a:t>
            </a:r>
          </a:p>
          <a:p>
            <a:pPr>
              <a:spcAft>
                <a:spcPts val="400"/>
              </a:spcAft>
              <a:defRPr sz="900" b="0">
                <a:solidFill>
                  <a:srgbClr val="00A758"/>
                </a:solidFill>
              </a:defRPr>
            </a:pPr>
            <a:r>
              <a:t>• 100% DC (Due Conduct) pass rate</a:t>
            </a:r>
          </a:p>
          <a:p>
            <a:pPr>
              <a:spcAft>
                <a:spcPts val="400"/>
              </a:spcAft>
              <a:defRPr sz="900" b="0">
                <a:solidFill>
                  <a:srgbClr val="1A1A2E"/>
                </a:solidFill>
              </a:defRPr>
            </a:pPr>
            <a:r>
              <a:t>• P13 data available for MAC 06 &amp; 07 — both pass</a:t>
            </a:r>
          </a:p>
          <a:p>
            <a:pPr>
              <a:spcAft>
                <a:spcPts val="400"/>
              </a:spcAft>
              <a:defRPr sz="900" b="0">
                <a:solidFill>
                  <a:srgbClr val="666666"/>
                </a:solidFill>
              </a:defRPr>
            </a:pPr>
            <a:r>
              <a:t>• Remaining MACs too early for P13 measurement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66666"/>
                </a:solidFill>
              </a:defRPr>
            </a:pPr>
            <a:r>
              <a:t>III Manulife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008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</a:defRPr>
            </a:pPr>
            <a:r>
              <a:t>Highly Confidential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74320"/>
            <a:ext cx="2011680" cy="274320"/>
          </a:xfrm>
          <a:prstGeom prst="roundRect">
            <a:avLst/>
          </a:prstGeom>
          <a:solidFill>
            <a:srgbClr val="E0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0073CF"/>
                </a:solidFill>
              </a:defRPr>
            </a:pPr>
            <a:r>
              <a:t>BENCHMARK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943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</a:defRPr>
            </a:pPr>
            <a:r>
              <a:t>1mAA Requirement Benchmark — Is the Target Stretch Enough?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73CF"/>
                </a:solidFill>
              </a:defRPr>
            </a:pPr>
            <a:r>
              <a:t>Current MAC 1mAA Monthly Requirement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463040"/>
          <a:ext cx="11612880" cy="5852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9491"/>
                <a:gridCol w="829491"/>
                <a:gridCol w="829491"/>
                <a:gridCol w="829491"/>
                <a:gridCol w="829491"/>
                <a:gridCol w="829491"/>
                <a:gridCol w="829491"/>
                <a:gridCol w="829491"/>
                <a:gridCol w="829491"/>
                <a:gridCol w="829491"/>
                <a:gridCol w="829491"/>
                <a:gridCol w="829491"/>
                <a:gridCol w="829491"/>
                <a:gridCol w="829497"/>
              </a:tblGrid>
              <a:tr h="292608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Month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M1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M2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M3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M4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M5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M6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M7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M8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M9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M10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M11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M12-24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M25-36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1mAA Req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10/mth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12/mth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2377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73CF"/>
                </a:solidFill>
              </a:defRPr>
            </a:pPr>
            <a:r>
              <a:t>Benchmark Comparison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2743200"/>
          <a:ext cx="116128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3220"/>
                <a:gridCol w="2903220"/>
                <a:gridCol w="2903220"/>
                <a:gridCol w="2903220"/>
              </a:tblGrid>
              <a:tr h="292608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Benchmark Source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Avg 1mAA</a:t>
                      </a:r>
                    </a:p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at M6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Avg 1mAA</a:t>
                      </a:r>
                    </a:p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at M12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Notes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MAC Requirement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Current scheme target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MAC Actual (avg of 8)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27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Significantly exceeds requirement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Normal Branch SM (median)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8-10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12-15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Based on internal BAU SM 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Industry Benchmark (est.)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6-8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10-12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Competitor franchise model typical range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MAC 04 Diễn Châu (best)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5.5x the M6 requirement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MAC 02 Quảng Yên (worst)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20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3.3x the M6 requirement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57200" y="4846320"/>
            <a:ext cx="3566160" cy="1371600"/>
          </a:xfrm>
          <a:prstGeom prst="roundRect">
            <a:avLst/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200" b="0">
                <a:solidFill>
                  <a:srgbClr val="1A1A2E"/>
                </a:solidFill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594360" y="489204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A758"/>
                </a:solidFill>
              </a:defRPr>
            </a:pPr>
            <a:r>
              <a:t>Finding: Target Is Achievable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516636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</a:defRPr>
            </a:pPr>
            <a:r>
              <a:t>All 8 MACs exceed the 1mAA requirement by 3-5x. Even the weakest MAC (02) has 20 1mAA vs. requirement of 6 at M6. The current target appears conservative.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4846320"/>
            <a:ext cx="3566160" cy="1371600"/>
          </a:xfrm>
          <a:prstGeom prst="roundRect">
            <a:avLst/>
          </a:prstGeom>
          <a:solidFill>
            <a:srgbClr val="FF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200" b="0">
                <a:solidFill>
                  <a:srgbClr val="1A1A2E"/>
                </a:solidFill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4434840" y="489204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4A261"/>
                </a:solidFill>
              </a:defRPr>
            </a:pPr>
            <a:r>
              <a:t>Consideration: Raise for Big MAC?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516636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</a:defRPr>
            </a:pPr>
            <a:r>
              <a:t>For Big MAC (DRD+ level, 150m2 office), a higher threshold of 12-15/month from M12 may be appropriate given larger investment and higher FYP targets (7-11 bil/year).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4846320"/>
            <a:ext cx="3566160" cy="1371600"/>
          </a:xfrm>
          <a:prstGeom prst="roundRect">
            <a:avLst/>
          </a:prstGeom>
          <a:solidFill>
            <a:srgbClr val="E0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200" b="0">
                <a:solidFill>
                  <a:srgbClr val="1A1A2E"/>
                </a:solidFill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75320" y="489204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73CF"/>
                </a:solidFill>
              </a:defRPr>
            </a:pPr>
            <a:r>
              <a:t>Recommendation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516636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</a:defRPr>
            </a:pPr>
            <a:r>
              <a:t>Keep current Normal MAC targets (proven achievable). Set Big MAC threshold at 12/mth from M6 and 15/mth from M12. Review after first Big MAC cohort completes 12 months.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008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66666"/>
                </a:solidFill>
              </a:defRPr>
            </a:pPr>
            <a:r>
              <a:t>III Manulife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64008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</a:defRPr>
            </a:pPr>
            <a:r>
              <a:t>Highly Confidential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74320"/>
            <a:ext cx="2011680" cy="274320"/>
          </a:xfrm>
          <a:prstGeom prst="roundRect">
            <a:avLst/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00A758"/>
                </a:solidFill>
              </a:defRPr>
            </a:pPr>
            <a:r>
              <a:t>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943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</a:defRPr>
            </a:pPr>
            <a:r>
              <a:t>MAC Recruitment Pipeline &amp; Onboarding Timeline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2560320" cy="1005840"/>
          </a:xfrm>
          <a:prstGeom prst="round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200" b="1">
                <a:solidFill>
                  <a:srgbClr val="1A1A2E"/>
                </a:solidFill>
              </a:defRPr>
            </a:pPr>
            <a:r>
              <a:t>74</a:t>
            </a:r>
          </a:p>
          <a:p>
            <a:pPr algn="ctr">
              <a:defRPr sz="900">
                <a:solidFill>
                  <a:srgbClr val="666666"/>
                </a:solidFill>
              </a:defRPr>
            </a:pPr>
            <a:r>
              <a:t>POOL / NOMINEES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54864" cy="1005840"/>
          </a:xfrm>
          <a:prstGeom prst="rect">
            <a:avLst/>
          </a:prstGeom>
          <a:solidFill>
            <a:srgbClr val="007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200400" y="1097280"/>
            <a:ext cx="2560320" cy="1005840"/>
          </a:xfrm>
          <a:prstGeom prst="round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200" b="1">
                <a:solidFill>
                  <a:srgbClr val="1A1A2E"/>
                </a:solidFill>
              </a:defRPr>
            </a:pPr>
            <a:r>
              <a:t>20</a:t>
            </a:r>
          </a:p>
          <a:p>
            <a:pPr algn="ctr">
              <a:defRPr sz="900">
                <a:solidFill>
                  <a:srgbClr val="666666"/>
                </a:solidFill>
              </a:defRPr>
            </a:pPr>
            <a:r>
              <a:t>OFFER LETTERS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097280"/>
            <a:ext cx="54864" cy="100584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43600" y="1097280"/>
            <a:ext cx="2560320" cy="1005840"/>
          </a:xfrm>
          <a:prstGeom prst="round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200" b="1">
                <a:solidFill>
                  <a:srgbClr val="1A1A2E"/>
                </a:solidFill>
              </a:defRPr>
            </a:pPr>
            <a:r>
              <a:t>8</a:t>
            </a:r>
          </a:p>
          <a:p>
            <a:pPr algn="ctr">
              <a:defRPr sz="900">
                <a:solidFill>
                  <a:srgbClr val="666666"/>
                </a:solidFill>
              </a:defRPr>
            </a:pPr>
            <a:r>
              <a:t>ONBOARDING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0" y="1097280"/>
            <a:ext cx="54864" cy="1005840"/>
          </a:xfrm>
          <a:prstGeom prst="rect">
            <a:avLst/>
          </a:prstGeom>
          <a:solidFill>
            <a:srgbClr val="00A7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0" y="1097280"/>
            <a:ext cx="2560320" cy="1005840"/>
          </a:xfrm>
          <a:prstGeom prst="round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200" b="1">
                <a:solidFill>
                  <a:srgbClr val="1A1A2E"/>
                </a:solidFill>
              </a:defRPr>
            </a:pPr>
            <a:r>
              <a:t>7+1</a:t>
            </a:r>
          </a:p>
          <a:p>
            <a:pPr algn="ctr">
              <a:defRPr sz="900">
                <a:solidFill>
                  <a:srgbClr val="666666"/>
                </a:solidFill>
              </a:defRPr>
            </a:pPr>
            <a:r>
              <a:t>OPERATIONAL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0" y="1097280"/>
            <a:ext cx="54864" cy="1005840"/>
          </a:xfrm>
          <a:prstGeom prst="rect">
            <a:avLst/>
          </a:prstGeom>
          <a:solidFill>
            <a:srgbClr val="00A7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274320" y="2286000"/>
          <a:ext cx="566928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292608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Stage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Count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Expected Timeline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Completed interview, awaiting confirmation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Pending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Q1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Location approved, pre-construction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Ready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Q1-Q2 2026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Under onboarding process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In Progress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Q1-Q2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Under construction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Building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Mar 2026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Operational (opened)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Live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Since May-Dec 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217920" y="22860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73CF"/>
                </a:solidFill>
              </a:defRPr>
            </a:pPr>
            <a:r>
              <a:t>Detailed Pipeline Status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943600" y="2651760"/>
          <a:ext cx="5760720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</a:tblGrid>
              <a:tr h="292608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MAC Name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Stage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Est. Opening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MAC Thanh Sơn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Interview done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Q2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MAC Nam Định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Interview done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Q2 2026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MAC Bảy Hiền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Location approved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Q2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MAC Sơn La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Location approved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Q2 2026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MAC Trà Vinh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Onboarding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Q2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MAC Phố Nối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Onboarding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Q2 2026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MAC Quy Nhơn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Onboarding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H1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MAC Cẩm Phả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Onboarding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H1 2026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MAC Pleiku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Onboarding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H1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MAC Đan Phượng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Onboarding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H1 2026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MAC Vĩnh Phúc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Construction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Mar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457200" y="5029200"/>
            <a:ext cx="5486400" cy="1188720"/>
          </a:xfrm>
          <a:prstGeom prst="roundRect">
            <a:avLst/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200" b="0">
                <a:solidFill>
                  <a:srgbClr val="1A1A2E"/>
                </a:solidFill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074920"/>
            <a:ext cx="5212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A758"/>
                </a:solidFill>
              </a:defRPr>
            </a:pPr>
            <a:r>
              <a:t>Forecast: ~4 new MACs in H1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349240"/>
            <a:ext cx="5212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1A1A2E"/>
                </a:solidFill>
              </a:defRPr>
            </a:pPr>
            <a:r>
              <a:t>• MAC Vĩnh Phúc opening ceremony: 05/03/2026</a:t>
            </a:r>
          </a:p>
          <a:p>
            <a:pPr>
              <a:spcAft>
                <a:spcPts val="400"/>
              </a:spcAft>
              <a:defRPr sz="900" b="0">
                <a:solidFill>
                  <a:srgbClr val="1A1A2E"/>
                </a:solidFill>
              </a:defRPr>
            </a:pPr>
            <a:r>
              <a:t>• 2 location-approved MACs expected Q1-Q2 2026</a:t>
            </a:r>
          </a:p>
          <a:p>
            <a:pPr>
              <a:spcAft>
                <a:spcPts val="400"/>
              </a:spcAft>
              <a:defRPr sz="900" b="0">
                <a:solidFill>
                  <a:srgbClr val="1A1A2E"/>
                </a:solidFill>
              </a:defRPr>
            </a:pPr>
            <a:r>
              <a:t>• 6 onboarding MACs expected throughout H1 2026</a:t>
            </a:r>
          </a:p>
          <a:p>
            <a:pPr>
              <a:spcAft>
                <a:spcPts val="400"/>
              </a:spcAft>
              <a:defRPr sz="900" b="0">
                <a:solidFill>
                  <a:srgbClr val="1A1A2E"/>
                </a:solidFill>
              </a:defRPr>
            </a:pPr>
            <a:r>
              <a:t>• Total operational by end H1 2026: ~12-15 MACs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5394960"/>
            <a:ext cx="5486400" cy="822960"/>
          </a:xfrm>
          <a:prstGeom prst="roundRect">
            <a:avLst/>
          </a:prstGeom>
          <a:solidFill>
            <a:srgbClr val="FF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200" b="0">
                <a:solidFill>
                  <a:srgbClr val="1A1A2E"/>
                </a:solidFill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55080" y="5440680"/>
            <a:ext cx="5212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4A261"/>
                </a:solidFill>
              </a:defRPr>
            </a:pPr>
            <a:r>
              <a:t>Bottlenecks Identified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566928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1A1A2E"/>
                </a:solidFill>
              </a:defRPr>
            </a:pPr>
            <a:r>
              <a:t>• Location approval process: avg 2-3 months (CRE &amp; AMkt review)</a:t>
            </a:r>
          </a:p>
          <a:p>
            <a:pPr>
              <a:spcAft>
                <a:spcPts val="400"/>
              </a:spcAft>
              <a:defRPr sz="900" b="0">
                <a:solidFill>
                  <a:srgbClr val="1A1A2E"/>
                </a:solidFill>
              </a:defRPr>
            </a:pPr>
            <a:r>
              <a:t>• Construction timeline: 1-2 months after location approval</a:t>
            </a:r>
          </a:p>
          <a:p>
            <a:pPr>
              <a:spcAft>
                <a:spcPts val="400"/>
              </a:spcAft>
              <a:defRPr sz="900" b="0">
                <a:solidFill>
                  <a:srgbClr val="E63946"/>
                </a:solidFill>
              </a:defRPr>
            </a:pPr>
            <a:r>
              <a:t>• Conversion rate: 65 applications → 7 operational (11%)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008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66666"/>
                </a:solidFill>
              </a:defRPr>
            </a:pPr>
            <a:r>
              <a:t>III Manulife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64008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</a:defRPr>
            </a:pPr>
            <a:r>
              <a:t>Highly Confidential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74320"/>
            <a:ext cx="2011680" cy="274320"/>
          </a:xfrm>
          <a:prstGeom prst="roundRect">
            <a:avLst/>
          </a:prstGeom>
          <a:solidFill>
            <a:srgbClr val="E0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0073CF"/>
                </a:solidFill>
              </a:defRPr>
            </a:pPr>
            <a:r>
              <a:t>SELECTION 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943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</a:defRPr>
            </a:pPr>
            <a:r>
              <a:t>MAC Recruitment &amp; Selection Criteria — Detailed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73CF"/>
                </a:solidFill>
              </a:defRPr>
            </a:pPr>
            <a:r>
              <a:t>Selection Criteria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463040"/>
          <a:ext cx="56692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Criteria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Requirement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Rationale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FYP L12M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Min 2x Standard FYP Target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Proven production capability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# CA L6M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Active case count threshold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Recent activity indicator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Income L12M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&gt; VND 1 billion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Financial stability &amp; capability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P13 Persistency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&gt; 75% (13M) or &gt; 80% (19M)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Sales quality assurance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Work Experience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Min 12 months at current insurer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Stability &amp; commitment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Age Range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25-50 years (recommended)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Productive career runway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Education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College degree or equivalent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Management capability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CIC Credit Check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Clean credit history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Financial responsibility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Reference Check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From prior insurer leadership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Character &amp; reputation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217920" y="10972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73CF"/>
                </a:solidFill>
              </a:defRPr>
            </a:pPr>
            <a:r>
              <a:t>Interview &amp; Onboarding Process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0" y="1463040"/>
          <a:ext cx="576072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180"/>
                <a:gridCol w="1440180"/>
                <a:gridCol w="1440180"/>
                <a:gridCol w="1440180"/>
              </a:tblGrid>
              <a:tr h="292608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Phase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Step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Owner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Gate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1. Screen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Application review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Recruiter/RH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Pass/Fail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2. Due Diligence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Background check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Agency Ops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Pass/Fail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3. Interview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Official MVL interview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AO + MBA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Stop if Fail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4. Committee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MAC committee review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CAO/ASBD/MBA/L1B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Stop if Fail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5. Offer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Issue offer letter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Agency Ops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6. Location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Office location review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CRE &amp; AMkt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Approve/Reject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7. Construction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Build-out per standards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MAC SM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Compliance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8. Acceptance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Final inspection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CRE &amp; AMkt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Sign-off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572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73CF"/>
                </a:solidFill>
              </a:defRPr>
            </a:pPr>
            <a:r>
              <a:t>Competitor Rank Mapping to Manulife Equivalent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74320" y="4937760"/>
          <a:ext cx="116128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2576"/>
                <a:gridCol w="2322576"/>
                <a:gridCol w="2322576"/>
                <a:gridCol w="2322576"/>
                <a:gridCol w="2322576"/>
              </a:tblGrid>
              <a:tr h="292608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Competitor Rank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Typical Title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MVL Equivalent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MAC Eligibility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Notes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Agency Director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AD / GAD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SM / SSM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Normal MAC (SM+)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Most common MAC candidate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Senior AD / Branch Mgr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Branch Manager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DRD / RD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Big MAC (DRD+)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Higher investment tier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Regional Director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Regional Head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SRD / AVP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Big MAC (DRD+)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Premium candidate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Unit Manager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UM / Senior UM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UM+ / AM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Not eligible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Below SM threshold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64008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66666"/>
                </a:solidFill>
              </a:defRPr>
            </a:pPr>
            <a:r>
              <a:t>III Manulife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008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</a:defRPr>
            </a:pPr>
            <a:r>
              <a:t>Highly Confidential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74320"/>
            <a:ext cx="2011680" cy="274320"/>
          </a:xfrm>
          <a:prstGeom prst="roundRect">
            <a:avLst/>
          </a:prstGeom>
          <a:solidFill>
            <a:srgbClr val="FF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4A261"/>
                </a:solidFill>
              </a:defRPr>
            </a:pPr>
            <a:r>
              <a:t>COMPETITIVE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943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</a:defRPr>
            </a:pPr>
            <a:r>
              <a:t>Normal MAC vs. Big MAC — Compensation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73CF"/>
                </a:solidFill>
              </a:defRPr>
            </a:pPr>
            <a:r>
              <a:t>Normal MAC (SM+ Level) vs. Competitor AD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463040"/>
          <a:ext cx="56692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292608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Component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MVL Normal MAC</a:t>
                      </a:r>
                    </a:p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(SM+)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Competitor</a:t>
                      </a:r>
                    </a:p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Franchise AD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MVL</a:t>
                      </a:r>
                    </a:p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Advantage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Office Size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~70-100 m2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50-80 m2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Larger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FYP Target/Year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3-4.6 bil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2-3 bil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Higher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Gross Income/mth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~90 mil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~80-120 mil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Comparable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Net Income/mth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~60 mil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~40-60 mil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Higher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Office Cost Subsidy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8% FYP + guarantee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Self-funded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Major advantage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Setup Cost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100% sponsored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Self-funded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Major advantage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Cash Advance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Up to 300-420 mil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Varies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Structured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Brand &amp; Support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Full MVL brand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Own brand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Trust factor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Risk to Leader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Low (subsidy)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High (self-fund)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Lower risk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217920" y="10972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73CF"/>
                </a:solidFill>
              </a:defRPr>
            </a:pPr>
            <a:r>
              <a:t>Big MAC (DRD+ Level) vs. Competitor BM/GD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0" y="1463040"/>
          <a:ext cx="57607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180"/>
                <a:gridCol w="1440180"/>
                <a:gridCol w="1440180"/>
                <a:gridCol w="1440180"/>
              </a:tblGrid>
              <a:tr h="292608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Component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MVL Big MAC</a:t>
                      </a:r>
                    </a:p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(DRD+)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Competitor</a:t>
                      </a:r>
                    </a:p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Branch Mgr/GD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MVL</a:t>
                      </a:r>
                    </a:p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Advantage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Office Size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~150 m2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100-200 m2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Comparable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FYP Target/Year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7-11 bil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5-8 bil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Higher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Gross Income/mth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~160 mil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~120-200 mil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Comparable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Net Income/mth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~110 mil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~60-100 mil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Higher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Office Cost Subsidy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8% FYP + guarantee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Self-funded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Major advantage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Setup Cost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100% sponsored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Self-funded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Major advantage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Cash Advance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Up to 720 mil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Varies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Higher cap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Sign-on Bonus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Up to 2.5 bil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Varies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Structured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Risk to Leader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Low (subsidy)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High (self-fund)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Lower risk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57200" y="5120640"/>
            <a:ext cx="11247120" cy="1097280"/>
          </a:xfrm>
          <a:prstGeom prst="roundRect">
            <a:avLst/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200" b="0">
                <a:solidFill>
                  <a:srgbClr val="1A1A2E"/>
                </a:solidFill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594360" y="516636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A758"/>
                </a:solidFill>
              </a:defRPr>
            </a:pPr>
            <a:r>
              <a:t>Key Competitive Advantage: Hybrid Model = Lower Risk + Higher Support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544068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1A1A2E"/>
                </a:solidFill>
              </a:defRPr>
            </a:pPr>
            <a:r>
              <a:t>• Unlike pure franchise models, MAC provides financial safety net (guaranteed subsidy) while maintaining entrepreneurial incentive (variable 8% FYP)</a:t>
            </a:r>
          </a:p>
          <a:p>
            <a:pPr>
              <a:spcAft>
                <a:spcPts val="400"/>
              </a:spcAft>
              <a:defRPr sz="900" b="0">
                <a:solidFill>
                  <a:srgbClr val="1A1A2E"/>
                </a:solidFill>
              </a:defRPr>
            </a:pPr>
            <a:r>
              <a:t>• Setup cost fully sponsored eliminates the #1 barrier for competitor leaders considering a move</a:t>
            </a:r>
          </a:p>
          <a:p>
            <a:pPr>
              <a:spcAft>
                <a:spcPts val="400"/>
              </a:spcAft>
              <a:defRPr sz="900" b="0">
                <a:solidFill>
                  <a:srgbClr val="1A1A2E"/>
                </a:solidFill>
              </a:defRPr>
            </a:pPr>
            <a:r>
              <a:t>• Manulife brand presence (signage, standards) provides immediate credibility in new markets — competitors must build from scratch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008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66666"/>
                </a:solidFill>
              </a:defRPr>
            </a:pPr>
            <a:r>
              <a:t>III Manulife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008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</a:defRPr>
            </a:pPr>
            <a:r>
              <a:t>Highly Confidential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74320"/>
            <a:ext cx="2011680" cy="274320"/>
          </a:xfrm>
          <a:prstGeom prst="roundRect">
            <a:avLst/>
          </a:prstGeom>
          <a:solidFill>
            <a:srgbClr val="3232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00A758"/>
                </a:solidFill>
              </a:defRPr>
            </a:pPr>
            <a:r>
              <a:t>VISION &amp; AMBITION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MAC Program 2-Year Ambition (2026-2027)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280160"/>
            <a:ext cx="2743200" cy="2560320"/>
          </a:xfrm>
          <a:prstGeom prst="roundRect">
            <a:avLst/>
          </a:prstGeom>
          <a:solidFill>
            <a:srgbClr val="282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200" b="0">
                <a:solidFill>
                  <a:srgbClr val="1A1A2E"/>
                </a:solidFill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365760" y="1280160"/>
            <a:ext cx="54864" cy="2560320"/>
          </a:xfrm>
          <a:prstGeom prst="rect">
            <a:avLst/>
          </a:prstGeom>
          <a:solidFill>
            <a:srgbClr val="00A7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A758"/>
                </a:solidFill>
              </a:defRPr>
            </a:pPr>
            <a:r>
              <a:t>Scale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30+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4028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AAAABB"/>
                </a:solidFill>
              </a:defRPr>
            </a:pPr>
            <a:r>
              <a:t>Target MACs by end 2027</a:t>
            </a:r>
            <a:br/>
            <a:r>
              <a:t>(8 today → 15 by H2'26 → 30+ by 2027)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1280160"/>
            <a:ext cx="2743200" cy="2560320"/>
          </a:xfrm>
          <a:prstGeom prst="roundRect">
            <a:avLst/>
          </a:prstGeom>
          <a:solidFill>
            <a:srgbClr val="282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200" b="0">
                <a:solidFill>
                  <a:srgbClr val="1A1A2E"/>
                </a:solidFill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3291840" y="1280160"/>
            <a:ext cx="54864" cy="2560320"/>
          </a:xfrm>
          <a:prstGeom prst="rect">
            <a:avLst/>
          </a:prstGeom>
          <a:solidFill>
            <a:srgbClr val="007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137160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73CF"/>
                </a:solidFill>
              </a:defRPr>
            </a:pPr>
            <a:r>
              <a:t>Contribution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16916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3-5%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24028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AAAABB"/>
                </a:solidFill>
              </a:defRPr>
            </a:pPr>
            <a:r>
              <a:t>Target % of total Agency FYP</a:t>
            </a:r>
            <a:br/>
            <a:r>
              <a:t>(0.6% today → 2% by end 2026 → 3-5% by 2027)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280160"/>
            <a:ext cx="2743200" cy="2560320"/>
          </a:xfrm>
          <a:prstGeom prst="roundRect">
            <a:avLst/>
          </a:prstGeom>
          <a:solidFill>
            <a:srgbClr val="282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200" b="0">
                <a:solidFill>
                  <a:srgbClr val="1A1A2E"/>
                </a:solidFill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217920" y="1280160"/>
            <a:ext cx="54864" cy="256032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37160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4A261"/>
                </a:solidFill>
              </a:defRPr>
            </a:pPr>
            <a:r>
              <a:t>Geography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6916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15+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24028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AAAABB"/>
                </a:solidFill>
              </a:defRPr>
            </a:pPr>
            <a:r>
              <a:t>New provinces covered</a:t>
            </a:r>
            <a:br/>
            <a:r>
              <a:t>(Currently in 8 locations across 7 provinces;</a:t>
            </a:r>
            <a:br/>
            <a:r>
              <a:t>target 20+ provinces by 2027)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0" y="1280160"/>
            <a:ext cx="2743200" cy="2560320"/>
          </a:xfrm>
          <a:prstGeom prst="roundRect">
            <a:avLst/>
          </a:prstGeom>
          <a:solidFill>
            <a:srgbClr val="282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200" b="0">
                <a:solidFill>
                  <a:srgbClr val="1A1A2E"/>
                </a:solidFill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9144000" y="1280160"/>
            <a:ext cx="54864" cy="2560320"/>
          </a:xfrm>
          <a:prstGeom prst="rect">
            <a:avLst/>
          </a:prstGeom>
          <a:solidFill>
            <a:srgbClr val="B48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0" y="137160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B482FF"/>
                </a:solidFill>
              </a:defRPr>
            </a:pPr>
            <a:r>
              <a:t>Talent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16916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50+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224028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AAAABB"/>
                </a:solidFill>
              </a:defRPr>
            </a:pPr>
            <a:r>
              <a:t>Inorganic leaders attracted</a:t>
            </a:r>
            <a:br/>
            <a:r>
              <a:t>(Pipeline of 74 nominees;</a:t>
            </a:r>
            <a:br/>
            <a:r>
              <a:t>target 50+ contracted by 2027)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114800"/>
            <a:ext cx="5486400" cy="2011680"/>
          </a:xfrm>
          <a:prstGeom prst="roundRect">
            <a:avLst/>
          </a:prstGeom>
          <a:solidFill>
            <a:srgbClr val="0028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200" b="0">
                <a:solidFill>
                  <a:srgbClr val="1A1A2E"/>
                </a:solidFill>
              </a:defRPr>
            </a:pPr>
          </a:p>
        </p:txBody>
      </p:sp>
      <p:sp>
        <p:nvSpPr>
          <p:cNvPr id="25" name="Rectangle 24"/>
          <p:cNvSpPr/>
          <p:nvPr/>
        </p:nvSpPr>
        <p:spPr>
          <a:xfrm>
            <a:off x="457200" y="4114800"/>
            <a:ext cx="54864" cy="2011680"/>
          </a:xfrm>
          <a:prstGeom prst="rect">
            <a:avLst/>
          </a:prstGeom>
          <a:solidFill>
            <a:srgbClr val="00A7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160520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A758"/>
                </a:solidFill>
              </a:defRPr>
            </a:pPr>
            <a:r>
              <a:t>Strategic Positioning vs. Competitors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434840"/>
            <a:ext cx="5120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AAAABB"/>
                </a:solidFill>
              </a:defRPr>
            </a:pPr>
            <a:r>
              <a:t>• Prudential: ~200 GAs nationwide (fully franchise)</a:t>
            </a:r>
          </a:p>
          <a:p>
            <a:pPr>
              <a:spcAft>
                <a:spcPts val="400"/>
              </a:spcAft>
              <a:defRPr sz="900" b="0">
                <a:solidFill>
                  <a:srgbClr val="AAAABB"/>
                </a:solidFill>
              </a:defRPr>
            </a:pPr>
            <a:r>
              <a:t>• Dai-ichi: ~100 franchise offices</a:t>
            </a:r>
          </a:p>
          <a:p>
            <a:pPr>
              <a:spcAft>
                <a:spcPts val="400"/>
              </a:spcAft>
              <a:defRPr sz="900" b="0">
                <a:solidFill>
                  <a:srgbClr val="AAAABB"/>
                </a:solidFill>
              </a:defRPr>
            </a:pPr>
            <a:r>
              <a:t>• AIA: ~80 franchise offices</a:t>
            </a:r>
          </a:p>
          <a:p>
            <a:pPr>
              <a:spcAft>
                <a:spcPts val="400"/>
              </a:spcAft>
              <a:defRPr sz="900" b="0">
                <a:solidFill>
                  <a:srgbClr val="FFFFFF"/>
                </a:solidFill>
              </a:defRPr>
            </a:pPr>
            <a:r>
              <a:t>• Manulife today: 43 branches + 8 MACs</a:t>
            </a:r>
          </a:p>
          <a:p>
            <a:pPr>
              <a:spcAft>
                <a:spcPts val="400"/>
              </a:spcAft>
              <a:defRPr sz="900" b="0">
                <a:solidFill>
                  <a:srgbClr val="00A758"/>
                </a:solidFill>
              </a:defRPr>
            </a:pPr>
            <a:r>
              <a:t>• Manulife 2027 target: 43 branches + 30 MACs = 73 locations</a:t>
            </a:r>
          </a:p>
          <a:p>
            <a:pPr>
              <a:spcAft>
                <a:spcPts val="400"/>
              </a:spcAft>
              <a:defRPr sz="9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900" b="1">
                <a:solidFill>
                  <a:srgbClr val="00A758"/>
                </a:solidFill>
              </a:defRPr>
            </a:pPr>
            <a:r>
              <a:t>MAC bridges the gap without cannibalizing branch model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4114800"/>
            <a:ext cx="5486400" cy="2011680"/>
          </a:xfrm>
          <a:prstGeom prst="roundRect">
            <a:avLst/>
          </a:prstGeom>
          <a:solidFill>
            <a:srgbClr val="001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200" b="0">
                <a:solidFill>
                  <a:srgbClr val="1A1A2E"/>
                </a:solidFill>
              </a:defRPr>
            </a:pPr>
          </a:p>
        </p:txBody>
      </p:sp>
      <p:sp>
        <p:nvSpPr>
          <p:cNvPr id="29" name="Rectangle 28"/>
          <p:cNvSpPr/>
          <p:nvPr/>
        </p:nvSpPr>
        <p:spPr>
          <a:xfrm>
            <a:off x="6217920" y="4114800"/>
            <a:ext cx="54864" cy="2011680"/>
          </a:xfrm>
          <a:prstGeom prst="rect">
            <a:avLst/>
          </a:prstGeom>
          <a:solidFill>
            <a:srgbClr val="007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4160520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73CF"/>
                </a:solidFill>
              </a:defRPr>
            </a:pPr>
            <a:r>
              <a:t>Geographic Expansion Plan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434840"/>
            <a:ext cx="5120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00A758"/>
                </a:solidFill>
              </a:defRPr>
            </a:pPr>
            <a:r>
              <a:t>Phase 1 (2025-H1'26): Pilot in 8 diverse locations ✓</a:t>
            </a:r>
          </a:p>
          <a:p>
            <a:pPr>
              <a:spcAft>
                <a:spcPts val="400"/>
              </a:spcAft>
              <a:defRPr sz="900" b="0">
                <a:solidFill>
                  <a:srgbClr val="FFFFFF"/>
                </a:solidFill>
              </a:defRPr>
            </a:pPr>
            <a:r>
              <a:t>Phase 2 (H2'26): Scale to 15 MACs in proven markets</a:t>
            </a:r>
          </a:p>
          <a:p>
            <a:pPr>
              <a:spcAft>
                <a:spcPts val="400"/>
              </a:spcAft>
              <a:defRPr sz="900" b="0">
                <a:solidFill>
                  <a:srgbClr val="FFFFFF"/>
                </a:solidFill>
              </a:defRPr>
            </a:pPr>
            <a:r>
              <a:t>Phase 3 (2027): Expand to 30+ MACs covering 20+ provinces</a:t>
            </a:r>
          </a:p>
          <a:p>
            <a:pPr>
              <a:spcAft>
                <a:spcPts val="400"/>
              </a:spcAft>
              <a:defRPr sz="9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900" b="0">
                <a:solidFill>
                  <a:srgbClr val="AAAABB"/>
                </a:solidFill>
              </a:defRPr>
            </a:pPr>
            <a:r>
              <a:t>Priority regions: Mekong Delta, Central Highlands,</a:t>
            </a:r>
          </a:p>
          <a:p>
            <a:pPr>
              <a:spcAft>
                <a:spcPts val="400"/>
              </a:spcAft>
              <a:defRPr sz="900" b="0">
                <a:solidFill>
                  <a:srgbClr val="AAAABB"/>
                </a:solidFill>
              </a:defRPr>
            </a:pPr>
            <a:r>
              <a:t>Northern Mountains — areas with no MVL branch presence</a:t>
            </a:r>
          </a:p>
          <a:p>
            <a:pPr>
              <a:spcAft>
                <a:spcPts val="400"/>
              </a:spcAft>
              <a:defRPr sz="900" b="0">
                <a:solidFill>
                  <a:srgbClr val="AAAABB"/>
                </a:solidFill>
              </a:defRPr>
            </a:pPr>
            <a:r>
              <a:t>but significant insurance market potential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4008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66666"/>
                </a:solidFill>
              </a:defRPr>
            </a:pPr>
            <a:r>
              <a:t>III Manulife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008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</a:defRPr>
            </a:pPr>
            <a:r>
              <a:t>Highly Confidential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74320"/>
            <a:ext cx="2011680" cy="274320"/>
          </a:xfrm>
          <a:prstGeom prst="roundRect">
            <a:avLst/>
          </a:prstGeom>
          <a:solidFill>
            <a:srgbClr val="FDE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E63946"/>
                </a:solidFill>
              </a:defRPr>
            </a:pPr>
            <a:r>
              <a:t>INTERNAL MAC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943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</a:defRPr>
            </a:pPr>
            <a:r>
              <a:t>Branch Closure → MAC Transition Proposal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2560320" cy="1005840"/>
          </a:xfrm>
          <a:prstGeom prst="round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200" b="1">
                <a:solidFill>
                  <a:srgbClr val="1A1A2E"/>
                </a:solidFill>
              </a:defRPr>
            </a:pPr>
            <a:r>
              <a:t>16-17</a:t>
            </a:r>
          </a:p>
          <a:p>
            <a:pPr algn="ctr">
              <a:defRPr sz="900">
                <a:solidFill>
                  <a:srgbClr val="666666"/>
                </a:solidFill>
              </a:defRPr>
            </a:pPr>
            <a:r>
              <a:t>BRANCHES CLOSING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54864" cy="1005840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200400" y="1097280"/>
            <a:ext cx="2560320" cy="1005840"/>
          </a:xfrm>
          <a:prstGeom prst="round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200" b="1">
                <a:solidFill>
                  <a:srgbClr val="1A1A2E"/>
                </a:solidFill>
              </a:defRPr>
            </a:pPr>
            <a:r>
              <a:t>~30-50</a:t>
            </a:r>
          </a:p>
          <a:p>
            <a:pPr algn="ctr">
              <a:defRPr sz="900">
                <a:solidFill>
                  <a:srgbClr val="666666"/>
                </a:solidFill>
              </a:defRPr>
            </a:pPr>
            <a:r>
              <a:t>EST. SM+ LEADERS AFFECTED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097280"/>
            <a:ext cx="54864" cy="100584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43600" y="1097280"/>
            <a:ext cx="2560320" cy="1005840"/>
          </a:xfrm>
          <a:prstGeom prst="round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200" b="1">
                <a:solidFill>
                  <a:srgbClr val="1A1A2E"/>
                </a:solidFill>
              </a:defRPr>
            </a:pPr>
            <a:r>
              <a:t>~10-15</a:t>
            </a:r>
          </a:p>
          <a:p>
            <a:pPr algn="ctr">
              <a:defRPr sz="900">
                <a:solidFill>
                  <a:srgbClr val="666666"/>
                </a:solidFill>
              </a:defRPr>
            </a:pPr>
            <a:r>
              <a:t>POTENTIAL INTERNAL MACs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0" y="1097280"/>
            <a:ext cx="54864" cy="1005840"/>
          </a:xfrm>
          <a:prstGeom prst="rect">
            <a:avLst/>
          </a:prstGeom>
          <a:solidFill>
            <a:srgbClr val="00A7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0" y="1097280"/>
            <a:ext cx="2560320" cy="1005840"/>
          </a:xfrm>
          <a:prstGeom prst="round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200" b="1">
                <a:solidFill>
                  <a:srgbClr val="1A1A2E"/>
                </a:solidFill>
              </a:defRPr>
            </a:pPr>
            <a:r>
              <a:t>Same</a:t>
            </a:r>
          </a:p>
          <a:p>
            <a:pPr algn="ctr">
              <a:defRPr sz="900">
                <a:solidFill>
                  <a:srgbClr val="666666"/>
                </a:solidFill>
              </a:defRPr>
            </a:pPr>
            <a:r>
              <a:t>COMPENSATION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0" y="1097280"/>
            <a:ext cx="54864" cy="1005840"/>
          </a:xfrm>
          <a:prstGeom prst="rect">
            <a:avLst/>
          </a:prstGeom>
          <a:solidFill>
            <a:srgbClr val="007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2860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73CF"/>
                </a:solidFill>
              </a:defRPr>
            </a:pPr>
            <a:r>
              <a:t>Internal MAC Eligibility Criteria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274320" y="2651760"/>
          <a:ext cx="5669280" cy="2340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Criteria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Requirement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Notes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Current Rank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SM or above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Must hold SM+ rank at time of transition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Tenure at MVL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Min 24 months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Proven track record within Manulife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FYP Achievement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Min 80% of target L12M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Demonstrates production capability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Team Size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Min 5 active agents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Has existing team to transfer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Location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Outside existing branch coverage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No overlap with remaining branches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Quality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No DC/P13 flags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Clean conduct record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Willingness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Voluntary opt-in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Not forced transition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217920" y="22860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73CF"/>
                </a:solidFill>
              </a:defRPr>
            </a:pPr>
            <a:r>
              <a:t>Transition Support Plan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943600" y="2651760"/>
          <a:ext cx="5760720" cy="2340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360"/>
                <a:gridCol w="2880360"/>
              </a:tblGrid>
              <a:tr h="292608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Support Item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Detail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Office Setup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Same MAC setup subsidy (410 mil)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Transition Period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3-month overlap with branch closure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Team Transfer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Existing agents transfer to MAC office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Compensation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Same MAC scheme (8% FYP + guarantee)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Target Adjustment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Reduced target for first 6 months (80%)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Mentoring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Paired with successful MAC operator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Fallback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Can return to nearest branch if MAC fails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457200" y="52120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73CF"/>
                </a:solidFill>
              </a:defRPr>
            </a:pPr>
            <a:r>
              <a:t>Internal MAC vs. Inorganic/GTF MAC — Key Differences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274320" y="5577840"/>
          <a:ext cx="116128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70960"/>
                <a:gridCol w="3870960"/>
                <a:gridCol w="3870960"/>
              </a:tblGrid>
              <a:tr h="292608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Aspect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Internal MAC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Inorganic/GTF MAC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Source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Existing MVL SM+ from closing branches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External recruitment from competitors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Compensation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Same MAC scheme, count new agents only after MAC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Same MAC scheme + GTF bonus + sign-on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Cash Advance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Not applicable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Up to 80% of debts (300-720 mil)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Setup Subsidy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Same (410 mil)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Same (410 mil)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Guarantee Subsidy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Same (40m Y1-2, 30m Y3)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Same (40m Y1-2, 30m Y3)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Risk Level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Lower (known leader)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Higher (new to MVL)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457200" y="64008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66666"/>
                </a:solidFill>
              </a:defRPr>
            </a:pPr>
            <a:r>
              <a:t>III Manulife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64008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</a:defRPr>
            </a:pPr>
            <a:r>
              <a:t>Highly Confidential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74320"/>
            <a:ext cx="2011680" cy="274320"/>
          </a:xfrm>
          <a:prstGeom prst="roundRect">
            <a:avLst/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00A758"/>
                </a:solidFill>
              </a:defRPr>
            </a:pPr>
            <a:r>
              <a:t>COMPENSATION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943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</a:defRPr>
            </a:pPr>
            <a:r>
              <a:t>MAC Scheme Total Income &amp; SM+ Compensation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73CF"/>
                </a:solidFill>
              </a:defRPr>
            </a:pPr>
            <a:r>
              <a:t>Actual Compensation Paid to Date (mil VND)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463040"/>
          <a:ext cx="116128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8982"/>
                <a:gridCol w="1658982"/>
                <a:gridCol w="1658982"/>
                <a:gridCol w="1658982"/>
                <a:gridCol w="1658982"/>
                <a:gridCol w="1658982"/>
                <a:gridCol w="1658988"/>
              </a:tblGrid>
              <a:tr h="292608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MAC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Total Income</a:t>
                      </a:r>
                    </a:p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from MAC</a:t>
                      </a:r>
                    </a:p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Scheme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Total SM+</a:t>
                      </a:r>
                    </a:p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Compensation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Total</a:t>
                      </a:r>
                    </a:p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Allowance</a:t>
                      </a:r>
                    </a:p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Paid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Months</a:t>
                      </a:r>
                    </a:p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Avg Monthly</a:t>
                      </a:r>
                    </a:p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MAC Income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Avg Monthly</a:t>
                      </a:r>
                    </a:p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SM+ Comp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01 Ecopark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9.74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1.28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224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1.08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0.14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02 Quảng Yên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9.60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0.42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1.60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0.07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03 Đạ Tẻh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6.40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0.60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04 Diễn Châu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7.20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1.14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140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1.20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0.19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05 Vị Thanh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0.87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1.33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0.15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06 Yên Bái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5.12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0.71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84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1.02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0.14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07 Thủ Đức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5.28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1.28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1.32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0.32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08 Vĩnh Phúc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3.20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0.10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3.20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0.10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54.54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6.38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912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/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572000"/>
            <a:ext cx="5486400" cy="1645920"/>
          </a:xfrm>
          <a:prstGeom prst="roundRect">
            <a:avLst/>
          </a:prstGeom>
          <a:solidFill>
            <a:srgbClr val="E6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200" b="0">
                <a:solidFill>
                  <a:srgbClr val="1A1A2E"/>
                </a:solidFill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4617720"/>
            <a:ext cx="5212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A758"/>
                </a:solidFill>
              </a:defRPr>
            </a:pPr>
            <a:r>
              <a:t>MAC Scheme Income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892040"/>
            <a:ext cx="5212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1A1A2E"/>
                </a:solidFill>
              </a:defRPr>
            </a:pPr>
            <a:r>
              <a:t>• Total MAC scheme income: 54.54 mil across 8 MACs</a:t>
            </a:r>
          </a:p>
          <a:p>
            <a:pPr>
              <a:spcAft>
                <a:spcPts val="400"/>
              </a:spcAft>
              <a:defRPr sz="900" b="0">
                <a:solidFill>
                  <a:srgbClr val="1A1A2E"/>
                </a:solidFill>
              </a:defRPr>
            </a:pPr>
            <a:r>
              <a:t>• Total SM+ compensation: 6.38 mil</a:t>
            </a:r>
          </a:p>
          <a:p>
            <a:pPr>
              <a:spcAft>
                <a:spcPts val="400"/>
              </a:spcAft>
              <a:defRPr sz="900" b="0">
                <a:solidFill>
                  <a:srgbClr val="1A1A2E"/>
                </a:solidFill>
              </a:defRPr>
            </a:pPr>
            <a:r>
              <a:t>• Total allowance paid: ~912 mil (office subsidy)</a:t>
            </a:r>
          </a:p>
          <a:p>
            <a:pPr>
              <a:spcAft>
                <a:spcPts val="400"/>
              </a:spcAft>
              <a:defRPr sz="900" b="0">
                <a:solidFill>
                  <a:srgbClr val="1A1A2E"/>
                </a:solidFill>
              </a:defRPr>
            </a:pPr>
            <a:r>
              <a:t>• MAC as % of Agency FYP: 0.6% (early stage)</a:t>
            </a:r>
          </a:p>
          <a:p>
            <a:pPr>
              <a:spcAft>
                <a:spcPts val="400"/>
              </a:spcAft>
              <a:defRPr sz="900" b="0">
                <a:solidFill>
                  <a:srgbClr val="1A1A2E"/>
                </a:solidFill>
              </a:defRPr>
            </a:pPr>
            <a:r>
              <a:t>• GTF FYP contribution: ~20% of inorganic group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572000"/>
            <a:ext cx="5486400" cy="1645920"/>
          </a:xfrm>
          <a:prstGeom prst="roundRect">
            <a:avLst/>
          </a:prstGeom>
          <a:solidFill>
            <a:srgbClr val="E0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200" b="0">
                <a:solidFill>
                  <a:srgbClr val="1A1A2E"/>
                </a:solidFill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355080" y="4617720"/>
            <a:ext cx="5212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73CF"/>
                </a:solidFill>
              </a:defRPr>
            </a:pPr>
            <a:r>
              <a:t>Cost Efficiency Outlook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4892040"/>
            <a:ext cx="5212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1A1A2E"/>
                </a:solidFill>
              </a:defRPr>
            </a:pPr>
            <a:r>
              <a:t>• Current total cost/FYP: ~68% (high due to setup costs)</a:t>
            </a:r>
          </a:p>
          <a:p>
            <a:pPr>
              <a:spcAft>
                <a:spcPts val="400"/>
              </a:spcAft>
              <a:defRPr sz="900" b="0">
                <a:solidFill>
                  <a:srgbClr val="00A758"/>
                </a:solidFill>
              </a:defRPr>
            </a:pPr>
            <a:r>
              <a:t>• Excluding one-off setup: ~15% (allowance only)</a:t>
            </a:r>
          </a:p>
          <a:p>
            <a:pPr>
              <a:spcAft>
                <a:spcPts val="400"/>
              </a:spcAft>
              <a:defRPr sz="900" b="0">
                <a:solidFill>
                  <a:srgbClr val="1A1A2E"/>
                </a:solidFill>
              </a:defRPr>
            </a:pPr>
            <a:r>
              <a:t>• Target steady-state: 8% FYP (allowance) + ~5% overhead = ~13%</a:t>
            </a:r>
          </a:p>
          <a:p>
            <a:pPr>
              <a:spcAft>
                <a:spcPts val="400"/>
              </a:spcAft>
              <a:defRPr sz="900" b="0">
                <a:solidFill>
                  <a:srgbClr val="1A1A2E"/>
                </a:solidFill>
              </a:defRPr>
            </a:pPr>
            <a:r>
              <a:t>• vs. Branch model: ~16-20% FYP for office operations</a:t>
            </a:r>
          </a:p>
          <a:p>
            <a:pPr>
              <a:spcAft>
                <a:spcPts val="400"/>
              </a:spcAft>
              <a:defRPr sz="900" b="1">
                <a:solidFill>
                  <a:srgbClr val="00A758"/>
                </a:solidFill>
              </a:defRPr>
            </a:pPr>
            <a:r>
              <a:t>• MAC model is more cost-efficient at steady state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008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66666"/>
                </a:solidFill>
              </a:defRPr>
            </a:pPr>
            <a:r>
              <a:t>III Manulife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008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</a:defRPr>
            </a:pPr>
            <a:r>
              <a:t>Highly Confidential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74320"/>
            <a:ext cx="2011680" cy="274320"/>
          </a:xfrm>
          <a:prstGeom prst="roundRect">
            <a:avLst/>
          </a:prstGeom>
          <a:solidFill>
            <a:srgbClr val="3232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00A758"/>
                </a:solidFill>
              </a:defRPr>
            </a:pPr>
            <a:r>
              <a:t>LESSONS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Pilot Review Summary &amp; Recommendations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280160"/>
            <a:ext cx="3657600" cy="2560320"/>
          </a:xfrm>
          <a:prstGeom prst="roundRect">
            <a:avLst/>
          </a:prstGeom>
          <a:solidFill>
            <a:srgbClr val="0028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200" b="0">
                <a:solidFill>
                  <a:srgbClr val="1A1A2E"/>
                </a:solidFill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365760" y="1280160"/>
            <a:ext cx="54864" cy="2560320"/>
          </a:xfrm>
          <a:prstGeom prst="rect">
            <a:avLst/>
          </a:prstGeom>
          <a:solidFill>
            <a:srgbClr val="00A7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A758"/>
                </a:solidFill>
              </a:defRPr>
            </a:pPr>
            <a:r>
              <a:t>What Worked Well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FFFFFF"/>
                </a:solidFill>
              </a:defRPr>
            </a:pPr>
            <a:r>
              <a:t>• 5/8 MACs at or above target (63%)</a:t>
            </a:r>
          </a:p>
          <a:p>
            <a:pPr>
              <a:spcAft>
                <a:spcPts val="400"/>
              </a:spcAft>
              <a:defRPr sz="900" b="0">
                <a:solidFill>
                  <a:srgbClr val="FFFFFF"/>
                </a:solidFill>
              </a:defRPr>
            </a:pPr>
            <a:r>
              <a:t>• 100% Green office quality</a:t>
            </a:r>
          </a:p>
          <a:p>
            <a:pPr>
              <a:spcAft>
                <a:spcPts val="400"/>
              </a:spcAft>
              <a:defRPr sz="900" b="0">
                <a:solidFill>
                  <a:srgbClr val="FFFFFF"/>
                </a:solidFill>
              </a:defRPr>
            </a:pPr>
            <a:r>
              <a:t>• 100% DC pass rate</a:t>
            </a:r>
          </a:p>
          <a:p>
            <a:pPr>
              <a:spcAft>
                <a:spcPts val="400"/>
              </a:spcAft>
              <a:defRPr sz="900" b="0">
                <a:solidFill>
                  <a:srgbClr val="FFFFFF"/>
                </a:solidFill>
              </a:defRPr>
            </a:pPr>
            <a:r>
              <a:t>• Strong recruitment in rural markets</a:t>
            </a:r>
          </a:p>
          <a:p>
            <a:pPr>
              <a:spcAft>
                <a:spcPts val="400"/>
              </a:spcAft>
              <a:defRPr sz="900" b="0">
                <a:solidFill>
                  <a:srgbClr val="FFFFFF"/>
                </a:solidFill>
              </a:defRPr>
            </a:pPr>
            <a:r>
              <a:t>• MAC 04 &amp; 07 as clear success stories</a:t>
            </a:r>
          </a:p>
          <a:p>
            <a:pPr>
              <a:spcAft>
                <a:spcPts val="400"/>
              </a:spcAft>
              <a:defRPr sz="900" b="0">
                <a:solidFill>
                  <a:srgbClr val="FFFFFF"/>
                </a:solidFill>
              </a:defRPr>
            </a:pPr>
            <a:r>
              <a:t>• Team building faster than normal GTF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0" y="1280160"/>
            <a:ext cx="3657600" cy="2560320"/>
          </a:xfrm>
          <a:prstGeom prst="roundRect">
            <a:avLst/>
          </a:prstGeom>
          <a:solidFill>
            <a:srgbClr val="321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200" b="0">
                <a:solidFill>
                  <a:srgbClr val="1A1A2E"/>
                </a:solidFill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4206240" y="1280160"/>
            <a:ext cx="54864" cy="256032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137160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4A261"/>
                </a:solidFill>
              </a:defRPr>
            </a:pPr>
            <a:r>
              <a:t>What Needs Improvement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169164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FFFFFF"/>
                </a:solidFill>
              </a:defRPr>
            </a:pPr>
            <a:r>
              <a:t>• MAC 02 underperforming (57%)</a:t>
            </a:r>
          </a:p>
          <a:p>
            <a:pPr>
              <a:spcAft>
                <a:spcPts val="400"/>
              </a:spcAft>
              <a:defRPr sz="900" b="0">
                <a:solidFill>
                  <a:srgbClr val="FFFFFF"/>
                </a:solidFill>
              </a:defRPr>
            </a:pPr>
            <a:r>
              <a:t>• MAC 01 SM MOC failure</a:t>
            </a:r>
          </a:p>
          <a:p>
            <a:pPr>
              <a:spcAft>
                <a:spcPts val="400"/>
              </a:spcAft>
              <a:defRPr sz="900" b="0">
                <a:solidFill>
                  <a:srgbClr val="FFFFFF"/>
                </a:solidFill>
              </a:defRPr>
            </a:pPr>
            <a:r>
              <a:t>• FYP volatility month-to-month</a:t>
            </a:r>
          </a:p>
          <a:p>
            <a:pPr>
              <a:spcAft>
                <a:spcPts val="400"/>
              </a:spcAft>
              <a:defRPr sz="900" b="0">
                <a:solidFill>
                  <a:srgbClr val="FFFFFF"/>
                </a:solidFill>
              </a:defRPr>
            </a:pPr>
            <a:r>
              <a:t>• Pipeline conversion rate low (11%)</a:t>
            </a:r>
          </a:p>
          <a:p>
            <a:pPr>
              <a:spcAft>
                <a:spcPts val="400"/>
              </a:spcAft>
              <a:defRPr sz="900" b="0">
                <a:solidFill>
                  <a:srgbClr val="FFFFFF"/>
                </a:solidFill>
              </a:defRPr>
            </a:pPr>
            <a:r>
              <a:t>• Location approval bottleneck</a:t>
            </a:r>
          </a:p>
          <a:p>
            <a:pPr>
              <a:spcAft>
                <a:spcPts val="400"/>
              </a:spcAft>
              <a:defRPr sz="900" b="0">
                <a:solidFill>
                  <a:srgbClr val="FFFFFF"/>
                </a:solidFill>
              </a:defRPr>
            </a:pPr>
            <a:r>
              <a:t>• P13 data still limited for most MACs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280160"/>
            <a:ext cx="3840480" cy="2560320"/>
          </a:xfrm>
          <a:prstGeom prst="roundRect">
            <a:avLst/>
          </a:prstGeom>
          <a:solidFill>
            <a:srgbClr val="0F1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200" b="0">
                <a:solidFill>
                  <a:srgbClr val="1A1A2E"/>
                </a:solidFill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8046720" y="1280160"/>
            <a:ext cx="54864" cy="2560320"/>
          </a:xfrm>
          <a:prstGeom prst="rect">
            <a:avLst/>
          </a:prstGeom>
          <a:solidFill>
            <a:srgbClr val="007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37160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73CF"/>
                </a:solidFill>
              </a:defRPr>
            </a:pPr>
            <a:r>
              <a:t>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169164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00A758"/>
                </a:solidFill>
              </a:defRPr>
            </a:pPr>
            <a:r>
              <a:t>• Approve MAC for ongoing implementation</a:t>
            </a:r>
          </a:p>
          <a:p>
            <a:pPr>
              <a:spcAft>
                <a:spcPts val="400"/>
              </a:spcAft>
              <a:defRPr sz="900" b="0">
                <a:solidFill>
                  <a:srgbClr val="FFFFFF"/>
                </a:solidFill>
              </a:defRPr>
            </a:pPr>
            <a:r>
              <a:t>• Launch Big MAC tier for DRD+ candidates</a:t>
            </a:r>
          </a:p>
          <a:p>
            <a:pPr>
              <a:spcAft>
                <a:spcPts val="400"/>
              </a:spcAft>
              <a:defRPr sz="900" b="0">
                <a:solidFill>
                  <a:srgbClr val="FFFFFF"/>
                </a:solidFill>
              </a:defRPr>
            </a:pPr>
            <a:r>
              <a:t>• Introduce Internal MAC for branch closures</a:t>
            </a:r>
          </a:p>
          <a:p>
            <a:pPr>
              <a:spcAft>
                <a:spcPts val="400"/>
              </a:spcAft>
              <a:defRPr sz="900" b="0">
                <a:solidFill>
                  <a:srgbClr val="FFFFFF"/>
                </a:solidFill>
              </a:defRPr>
            </a:pPr>
            <a:r>
              <a:t>• Streamline location approval process</a:t>
            </a:r>
          </a:p>
          <a:p>
            <a:pPr>
              <a:spcAft>
                <a:spcPts val="400"/>
              </a:spcAft>
              <a:defRPr sz="900" b="0">
                <a:solidFill>
                  <a:srgbClr val="FFFFFF"/>
                </a:solidFill>
              </a:defRPr>
            </a:pPr>
            <a:r>
              <a:t>• Set higher 1mAA threshold for Big MAC</a:t>
            </a:r>
          </a:p>
          <a:p>
            <a:pPr>
              <a:spcAft>
                <a:spcPts val="400"/>
              </a:spcAft>
              <a:defRPr sz="900" b="0">
                <a:solidFill>
                  <a:srgbClr val="FFFFFF"/>
                </a:solidFill>
              </a:defRPr>
            </a:pPr>
            <a:r>
              <a:t>• Quarterly performance review cadence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114800"/>
            <a:ext cx="11247120" cy="2011680"/>
          </a:xfrm>
          <a:prstGeom prst="roundRect">
            <a:avLst/>
          </a:prstGeom>
          <a:solidFill>
            <a:srgbClr val="282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200" b="0">
                <a:solidFill>
                  <a:srgbClr val="1A1A2E"/>
                </a:solidFill>
              </a:defRPr>
            </a:pPr>
          </a:p>
        </p:txBody>
      </p:sp>
      <p:sp>
        <p:nvSpPr>
          <p:cNvPr id="17" name="Rectangle 16"/>
          <p:cNvSpPr/>
          <p:nvPr/>
        </p:nvSpPr>
        <p:spPr>
          <a:xfrm>
            <a:off x="457200" y="4114800"/>
            <a:ext cx="54864" cy="2011680"/>
          </a:xfrm>
          <a:prstGeom prst="rect">
            <a:avLst/>
          </a:prstGeom>
          <a:solidFill>
            <a:srgbClr val="00A7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20624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A758"/>
                </a:solidFill>
              </a:defRPr>
            </a:pPr>
            <a:r>
              <a:t>Conclusion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526280"/>
            <a:ext cx="10789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FFFFFF"/>
                </a:solidFill>
              </a:defRPr>
            </a:pPr>
            <a:r>
              <a:t>The MAC pilot has demonstrated the viability of the hybrid model. With 93% aggregate target achievement across 8 offices, strong recruitment momentum (139 NR, 218 1mAA), and 100% quality compliance, the program is ready for scale-up.</a:t>
            </a:r>
          </a:p>
          <a:p>
            <a:pPr>
              <a:spcAft>
                <a:spcPts val="400"/>
              </a:spcAft>
              <a:defRPr sz="10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1000" b="0">
                <a:solidFill>
                  <a:srgbClr val="AAAABB"/>
                </a:solidFill>
              </a:defRPr>
            </a:pPr>
            <a:r>
              <a:t>Key ask: Approve (1) ongoing MAC implementation with refined scheme, (2) Big MAC tier for DRD+ level, and (3) Internal MAC pathway for leaders affected by 16-17 branch closures in 2026.</a:t>
            </a:r>
          </a:p>
          <a:p>
            <a:pPr>
              <a:spcAft>
                <a:spcPts val="400"/>
              </a:spcAft>
              <a:defRPr sz="10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1000" b="0">
                <a:solidFill>
                  <a:srgbClr val="AAAABB"/>
                </a:solidFill>
              </a:defRPr>
            </a:pPr>
            <a:r>
              <a:t>Total investment to date: ~4.2 bil VND across 8 MACs generating 6.2 bil FYP. Projected steady-state cost efficiency: ~13% of FYP vs. ~16-20% for branch model.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008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66666"/>
                </a:solidFill>
              </a:defRPr>
            </a:pPr>
            <a:r>
              <a:t>III Manulife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008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</a:defRPr>
            </a:pPr>
            <a:r>
              <a:t>Highly Confidential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66666"/>
                </a:solidFill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