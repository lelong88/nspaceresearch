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A758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Agency VAR Threshold</a:t>
            </a:r>
            <a:br/>
            <a:r>
              <a:t>Analysis &amp;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</a:defRPr>
            </a:pPr>
            <a:r>
              <a:t>Comprehensive review of Value-at-Risk exposure for the agency salesforce,</a:t>
            </a:r>
            <a:br/>
            <a:r>
              <a:t>historical trend analysis, and proposed threshold recalibration for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Agency Risk &amp; Compensation Review  | 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Key Findings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$0.3M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CURRENT VAR (2025 ACTUAL)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$3.0M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APPROVED TRIGGER (LEGACY)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$1.3M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FORECAST VAR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$2.0M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PROPOSED TRIGGER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Why VAR Was Low in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Conduct reviews cleaned out high-risk teams (policy churning, mass cancellations), leaving a healthier salesforce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Business downturn: recruitment declined ~60% in H1 2024 vs 2023; high persistency kept FYP strong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After excluding timing-gap cases, clean VAR ≈ $0.24M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Why the Threshold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34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Breaching the threshold triggers a mandatory risk protocol — deep-dive analysis and escalation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New compensation scheme (2026) increases UM+ income significantly, pushing VAR from $0.3M → ~$1.3M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How VAR Is Calculated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VAR = Σ Total Payout (L12M)  −  Σ Total FYP (L12M)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566160" cy="13716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Rolling 12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Sum of payout per month over last 12 months. Reflects full sales cycle and mitigates impact of late payments post free-look period (21 days).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566160" cy="13716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43484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Direct Team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331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VAR Direct Team of UM = Σ payout L12M − Σ FYP of all FA direct reports &amp; UM. Only counted at months where agent holds UM+ rank.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920240"/>
            <a:ext cx="3566160" cy="13716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27532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Agency 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31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Only UM+ with VAR &gt; 0 are counted (negative-VAR teams are zeroed). Agency VAR = Σ all positive direct-team VARs.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CF"/>
                </a:solidFill>
              </a:defRPr>
            </a:pPr>
            <a:r>
              <a:t>Payout Includes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First Year Commission (FYC) + rider bonus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Agent compensation (monthly, quarterly, yearly bonuses)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UM+ compensation (overrides, activation, development)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Contests, campaigns, financing schemes, benefits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GTF subsidy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CF"/>
                </a:solidFill>
              </a:defRPr>
            </a:pPr>
            <a:r>
              <a:t>Exclusions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862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CSV first year (only ~0.4% of FYP due to high allocation charge)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PSM+ income — monitored separately on monthly basis</a:t>
            </a:r>
          </a:p>
          <a:p>
            <a:pPr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• Tax support scheme, cash advance (loan), retirement funds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HISTORICAL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VAR Trend: 5-Year Rolling L12M ($ Million USD)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Feb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Apr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Jun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Jul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Aug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Oct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120640"/>
            <a:ext cx="5394960" cy="109728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5166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2020–2022: Stable Period (~$1.8–2.0M)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440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Mass recruitment era. Agency FYP ~$200M+/year. New agents contributed ~50% of business. VAR remained stable around $2.0M.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120640"/>
            <a:ext cx="5577840" cy="109728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63640" y="51663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A261"/>
                </a:solidFill>
              </a:defRPr>
            </a:pPr>
            <a:r>
              <a:t>⚠ 2022–2023: Spike to ~$3.5M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4406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Peak driven by: (1) deferred payments from 2022 peak production flowing into 2023, and (2) special retention schemes for PSM/UM/RH paying income without production. Peak $3.8M in Dec 2022.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Suggest: replace table with line chart in PowerPoint (6 series, Jan–Dec)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RATIO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VAR as % of Agency FYP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Agency FYP (USD M)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VAR (USD M)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%VAR/FYP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Peak %VAR/FYP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1.3% (Jan)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0.8% (Dec)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1.9% (Dec)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4.0% (Nov)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3.6% (Jan)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~55*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0.6% (Jan/Dec)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*2025 FYP estimated. 2026 FYP target: 1,787 bn VND (~$71M USD).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47120" cy="91440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43434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758"/>
                </a:solidFill>
              </a:defRPr>
            </a:pPr>
            <a: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617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2023 was the outlier year — VAR/FYP peaked at 4.0% when business volume collapsed to $72M (from $204M in 2022) while compensation structures remained unchanged. The 2025 ratio of 0.5% is the lowest in 6 years, driven by high persistency and reduced manpower.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Suggest: add bar chart above table (6 bars, y-axis = %VAR/FYP)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Deconstructing the $0.3M: Why 2025 VAR Was Historically 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$0.3M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TOTAL VAR (GROSS)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$0.05M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TIMING-GAP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$0.24M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CLEAN VAR (NET)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260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UNITS WITH VAR &gt;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3566160" cy="14630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Deferred Payments ($0.05M)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80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NAB and MLY agent payments from late-2024 production paid in early 2025. Contest payouts also lag past the 21-day free-look period. These create artificial VAR without fraud signal.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468880"/>
            <a:ext cx="3566160" cy="14630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43484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Reduced Manpower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80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H1 2024 recruitment declined ~60% vs 2023. Fewer bonus qualifiers = fewer agents generating positive VAR. Total units with VAR &gt; 0 dropped to 260.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468880"/>
            <a:ext cx="3566160" cy="14630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27532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High Persistency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880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Unusually high policy renewal rates in 2025 kept FYP revenue strong. Fewer cancellations meant the denominator of the risk equation held up, suppressing VAR.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6240"/>
            <a:ext cx="112471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4251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</a:defRPr>
            </a:pPr>
            <a:r>
              <a:t>⚠ Critical Context: This Is a Good-Year 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262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The $0.3M figure reflects favorable market conditions, not a structural reduction in risk exposure. With 2026 targeting 30%+ FYP growth and a new compensation scheme that significantly increases UM+ income, VAR is expected to revert upward. The back-test of 2025 data under the new scheme already shows VAR tripling to ~$1.0M.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COMPOSITION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Bonus Contribution Breakdown — Units with VAR &gt; 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Amount (USD K)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Payout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1) FYC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2) Agent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Agent Compensation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Agent Contest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107+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~15%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3) UM+ Income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517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UM+ Compensation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GTF Subsidy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~45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~4%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 UM+ Contest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1051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Suggest: add donut chart to the right of this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46320"/>
            <a:ext cx="11247120" cy="109728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4892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758"/>
                </a:solidFill>
              </a:defRPr>
            </a:pPr>
            <a:r>
              <a:t>Key Finding: UM+ Income Dominates VAR Exposure (43%)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166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Manager-level compensation — particularly leader overrides ($225K, 19%) and leader activation ($125K, 10%) — is the largest contributor to positive-VAR units. Arbitrage risk is most likely at the UM+ layer where managers can influence their sub-tree's production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3946"/>
                </a:solidFill>
              </a:defRPr>
            </a:pPr>
            <a:r>
              <a:t>RISK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High-Risk Segments: Zero-FYP &amp; Negative-FYP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CF"/>
                </a:solidFill>
              </a:defRPr>
            </a:pPr>
            <a:r>
              <a:t>FYP = 0 &amp; Payout &gt; 0  (8 units, $36.6K VAR)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53035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VAR / Payout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$36.6K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$0.1K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Agent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$19.3K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Agent Contest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$15.0K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UM+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$17.1K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GTF Subsidy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$8.1K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CF"/>
                </a:solidFill>
              </a:defRPr>
            </a:pPr>
            <a:r>
              <a:t>FYP &lt; 0 &amp; Payout &gt; 0  (7 units, $10.9K VAR)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463040"/>
          <a:ext cx="53035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$10.9K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Total Payout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$5.4K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FYC (negative)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($2.0K)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Agent Income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$4.2K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Agent Contest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$3.2K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UM+ Income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$3.2K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389120"/>
            <a:ext cx="11247120" cy="16459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94360" y="44348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</a:defRPr>
            </a:pPr>
            <a:r>
              <a:t>GTF Subsidy: Risk Component — With Claw-Back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7091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GTF subsidy = 22% of VAR in zero-FYP units ($8.1K of $36.6K)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Calculated on net production — does not require passing the free-look period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Claw-back mechanism exists: if GTF terminates within 12–18 months, must repay full subsidy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Residual risk: submit-cancel-resubmit loops can still generate bonus if GTF remains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4A261"/>
                </a:solidFill>
              </a:defRPr>
            </a:pPr>
            <a:r>
              <a:t>FORWARD-LOOKING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2026 Compensation Impact: Back-Test &amp;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$0.3M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2025 ACTUAL (OLD SCHEME)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$1.05M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2025 BACK-TEST (NEW SCHEME)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54864" cy="10058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$1.29M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2026 FORECAST (NEW SCHEME)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4864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256032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A1A2E"/>
                </a:solidFill>
              </a:defRPr>
            </a:pPr>
            <a:r>
              <a:t>+35%</a:t>
            </a:r>
          </a:p>
          <a:p>
            <a:pPr algn="ctr">
              <a:defRPr sz="900">
                <a:solidFill>
                  <a:srgbClr val="666666"/>
                </a:solidFill>
              </a:defRPr>
            </a:pPr>
            <a:r>
              <a:t>FYP GROWTH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54864" cy="100584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Back-Test 2025 (New Scheme on Actual Data)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278892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Non-MBA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VAR (USD 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 Units VAR&gt;0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391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GTF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Non-GTF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272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1792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3CF"/>
                </a:solidFill>
              </a:defRPr>
            </a:pPr>
            <a:r>
              <a:t>Forecast 2026 (New Scheme + Growth)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278892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Non-MBA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VAR (USD 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# Units VAR&gt;0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260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GTF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  Non-GTF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57200" y="4754880"/>
            <a:ext cx="11247120" cy="128016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94360" y="4800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</a:defRPr>
            </a:pPr>
            <a:r>
              <a:t>⚠ Divergent Trends by 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74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Non-MBA Pro VAR drops 19% ($860K → $694K): income only +3% while FYP grows 35%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MBA Pro VAR surges 3.2× ($190K → $598K): new scheme boosts top-performer compensation</a:t>
            </a:r>
          </a:p>
          <a:p>
            <a:pPr>
              <a:spcAft>
                <a:spcPts val="400"/>
              </a:spcAft>
              <a:defRPr sz="1000" b="0">
                <a:solidFill>
                  <a:srgbClr val="E63946"/>
                </a:solidFill>
              </a:defRPr>
            </a:pPr>
            <a:r>
              <a:t>• GTF units with VAR&gt;0 increase 18% (105 → 124) despite total units declining 22% — anomaly under investigation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4A261"/>
                </a:solidFill>
              </a:defRPr>
            </a:pPr>
            <a:r>
              <a:t>CALIBRATION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Why the Threshold Number Is Noisy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18288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Deferred Payouts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Commissions paid on a lag (sometimes &gt;1 year) mean this year's VAR partially reflects last year's sales. The payout schedule artificially lowers VAR in the current year but raises it the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18288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43484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One-Off Retention Packages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A single $500K–$1M talent retention payment to a key agent can spike individual VAR without any fraud signal. These are known, approved expenses — but they inflate aggregate VAR.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18288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27532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Revenue Growth Paradox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5087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Strong revenue growth pushes VAR up because top-performers perform even better and new recruits come in large quantity. The 2026 growth target of +35% FYP will mechanically increase VAR.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CF"/>
                </a:solidFill>
              </a:defRPr>
            </a:pPr>
            <a:r>
              <a:t>Formula Mismatch: Income vs. FYP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11247120" cy="109728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94360" y="3611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 structural asymmetry exists in the VAR formula: Income includes earnings from the entire team hierarchy (overrides on indirect downlines), but FYP only captures direct-team production. This means a UM+ with a large indirect team can show positive VAR even when the broader team is profitable — because their income reflects a wider scope than the FYP offset.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A758"/>
                </a:solidFill>
              </a:defRPr>
            </a:pPr>
            <a: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Proposed Threshold: $2.0M Trigger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097280"/>
            <a:ext cx="3931920" cy="8229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$2.0M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9659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Recommended Trigger Point  |  Reduced from legacy $3.0M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Rationale for $2.0M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Tighter than legacy: 33% reduction from $3.0M demonstrating proactive risk tightening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Sufficient buffer: forecast $1.29M → 1.55× buffer absorbs normal fluctuations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Compensation impact absorbed: new scheme triples VAR to ~$1.0M on same production, still well below $2.0M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Cleaner salesforce: conduct reviews in 2024–2025 structurally reduced risk exposure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2023 peak was anomalous: driven by deferred payments + one-off retention schemes — no longer applies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Scenario Analysis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269748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Est. VAR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Triggers?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Base case (2026 forecast)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$1.3M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✗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+50% stress on forecast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$1.9M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✗ No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Return to 2023 levels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One-off retention ($0.5M)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$1.8M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✗ No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Recruitment surge + abuse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$2.0M+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0" y="4937760"/>
            <a:ext cx="5029200" cy="91440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720840" y="49834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A758"/>
                </a:solidFill>
              </a:defRPr>
            </a:pPr>
            <a:r>
              <a:t>Threshold Positioning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5257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</a:defRPr>
            </a:pPr>
            <a:r>
              <a:t>The $2.0M trigger is a 33% reduction from the legacy $3.0M — demonstrating tighter controls while providing sufficient headroom above the $1.3M forecast.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E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73CF"/>
                </a:solidFill>
              </a:defRPr>
            </a:pPr>
            <a: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VAR Monitoring &amp; Control Framework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Action Item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Dashboard Channel VaR report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 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Monitor total payout incl. PSM+ for significant fluctuations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Review VaR monitoring tool for enhancement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Deep-dive payout data: compensation components, agency segments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From Mar '25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Red-flag investigation: multi-indicator screening (persistency, sale patterns, phone/bank sharing,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Line1B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Already in 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Update tracking in Local ARC; escalate to ARC/RCSC when breached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Line1B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From Mar '25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Embed VAR impact review in annual compensation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ASBD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2025 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754880"/>
            <a:ext cx="11247120" cy="1097280"/>
          </a:xfrm>
          <a:prstGeom prst="roundRect">
            <a:avLst/>
          </a:prstGeom>
          <a:solidFill>
            <a:srgbClr val="E6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48006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758"/>
                </a:solidFill>
              </a:defRPr>
            </a:pPr>
            <a:r>
              <a:t>Escalation Protocol When Threshold Is Breached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74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When monthly VAR exceeds $2.0M, the local Compensation team and Line1B (front risk sales) must provide a deep-dive analysis. Line1B already manages monthly protocols for other risk controls — this is integrated into existing workflows, not a new standalone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645920" cy="27432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E63946"/>
                </a:solidFill>
              </a:defRPr>
            </a:pPr>
            <a:r>
              <a:t>OPEN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</a:defRPr>
            </a:pPr>
            <a:r>
              <a:t>Outstanding Questions &amp; Risk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Unresolved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66928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669280" cy="3657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1. GTF Unit Anomaly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GTF units with VAR &gt; 0 increase 18% (105 → 124) in 2026 forecast despite total units declining 22%. Root cause under investigation: possible tier-jump effects or team-size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566928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5669280" cy="3657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2. GTF Subsidy Abuse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Submit-cancel-resubmit loops can generate recurring bonus without genuine sales. Should this risk be explicitly addressed in the proposal?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5669280" cy="11887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669280" cy="36576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9768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3. MBA Pro Concentration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MBA Pro VAR surges 3.2× under new scheme. Is the increased exposure acceptable given business growth objectives?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Risk Mitigation Already in 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Monthly bi-conduct screening: payout ratios cross-referenced with risk indicators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Payment suspension authority for high-risk cases pending investigation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Claw-back clauses in high-reward scheme agreements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Campaign enrollment suspension for violating agents/UMs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Contract termination for confirmed fraud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Recommended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Complete deep-dive on 119 non-MBA GTF units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Quantify GTF subsidy contribution to total VAR exposure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Validate 30%+ FYP growth assumption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  <a:r>
              <a:t>• Assess whether GTF subsidy claw-back mechanism should be strengthened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371600" cy="274320"/>
          </a:xfrm>
          <a:prstGeom prst="roundRect">
            <a:avLst/>
          </a:prstGeom>
          <a:solidFill>
            <a:srgbClr val="323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Conclusion &amp;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758"/>
                </a:solidFill>
              </a:defRPr>
            </a:pPr>
            <a:r>
              <a:t>Current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$0.3M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</a:defRPr>
            </a:pPr>
            <a:r>
              <a:t>2025 actual VAR — historically low due to high persistency, reduced manpower, and business downtrend. This is a good-year artifact, not structural improvement.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54864" cy="22860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A261"/>
                </a:solidFill>
              </a:defRPr>
            </a:pPr>
            <a:r>
              <a:t>Expected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$1.3M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</a:defRPr>
            </a:pPr>
            <a:r>
              <a:t>2026 forecast under new compensation scheme with 35% FYP growth. New scheme triples VAR on same production; growth adds further upward pressure.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28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54864" cy="2286000"/>
          </a:xfrm>
          <a:prstGeom prst="rect">
            <a:avLst/>
          </a:prstGeom>
          <a:solidFill>
            <a:srgbClr val="007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CF"/>
                </a:solidFill>
              </a:defRPr>
            </a:pPr>
            <a:r>
              <a:t>Proposed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$2.0M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BB"/>
                </a:solidFill>
              </a:defRPr>
            </a:pPr>
            <a:r>
              <a:t>Reduced from legacy $3.0M — a 33% tightening. Provides 1.55× buffer above forecast. Reflects cleaner salesforce post-conduct reviews.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11247120" cy="1371600"/>
          </a:xfrm>
          <a:prstGeom prst="roundRect">
            <a:avLst/>
          </a:prstGeom>
          <a:solidFill>
            <a:srgbClr val="002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A1A2E"/>
                </a:solidFill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54864" cy="1371600"/>
          </a:xfrm>
          <a:prstGeom prst="rect">
            <a:avLst/>
          </a:prstGeom>
          <a:solidFill>
            <a:srgbClr val="00A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EE"/>
                </a:solidFill>
              </a:defRPr>
            </a:pPr>
            <a:r>
              <a:t>The $2.0M trigger point represents a proactive 33% tightening from the legacy $3.0M threshold, demonstrating strengthened risk controls. It is calibrated against the 2026 forecast ($1.29M), stress-tested under the new compensation scheme, and supported by a structurally cleaner salesforce following 2024–2025 conduct reviews. The comprehensive monthly monitoring framework with multi-indicator screening remains in place regardless of threshold level.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669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All data as of January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III Manulife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