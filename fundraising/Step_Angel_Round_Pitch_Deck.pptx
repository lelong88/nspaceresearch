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Learn a Language From Content You Can't Stop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B0C0"/>
                </a:solidFill>
                <a:latin typeface="Calibri"/>
              </a:defRPr>
            </a:pPr>
            <a:r>
              <a:t>AI-powered language learning through engaging content — stories, news, movies, music &amp; more.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5488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Angel Round  ·  $200K  ·  $2M Pre-Money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step.is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Language learning is broken for busy people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2377440" cy="347472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Boring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Traditional apps use repetitive drills and generic sentences. Learners lose interest within weeks.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286000"/>
            <a:ext cx="2377440" cy="347472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4688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657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Busy adults can't dedicate 30+ min/day to language study. They need learning that fits into their life.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2377440" cy="347472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Low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57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Without engaging context, vocabulary doesn't stick. 80% of Duolingo users quit within 2 weeks.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286000"/>
            <a:ext cx="2377440" cy="347472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4688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 Discipline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657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Self-study requires enormous willpower. Most people want to learn but can't sustain the habit.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Step: Learn a language while doing something you enjoy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Calibri"/>
              </a:defRPr>
            </a:pPr>
            <a:r>
              <a:t>Step turns entertainment into fluency. Users learn through structured curriculums built around content they actually want to consume — fiction, news, movies, music, podcasts.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1920240" cy="292608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1089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148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Ebooks &amp; read-along</a:t>
            </a:r>
            <a:br/>
            <a:r>
              <a:t>with inline translations</a:t>
            </a:r>
            <a:br/>
            <a:r>
              <a:t>and vocabulary highlights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926080"/>
            <a:ext cx="1920240" cy="292608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31089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🗣️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Speaking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1148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Pronunciation drills</a:t>
            </a:r>
            <a:br/>
            <a:r>
              <a:t>&amp; AI-powered roleplay</a:t>
            </a:r>
            <a:br/>
            <a:r>
              <a:t>conversations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926080"/>
            <a:ext cx="1920240" cy="292608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31089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Writing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41148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Sentence &amp; paragraph</a:t>
            </a:r>
            <a:br/>
            <a:r>
              <a:t>exercises with instant</a:t>
            </a:r>
            <a:br/>
            <a:r>
              <a:t>AI feedback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59" y="2926080"/>
            <a:ext cx="1920240" cy="292608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59" y="31089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Vocabulary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59" y="41148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Smart flashcards with</a:t>
            </a:r>
            <a:br/>
            <a:r>
              <a:t>spaced repetition</a:t>
            </a:r>
            <a:br/>
            <a:r>
              <a:t>algorithm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926080"/>
            <a:ext cx="1920240" cy="292608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31089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Listening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41148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Audio exercises from</a:t>
            </a:r>
            <a:br/>
            <a:r>
              <a:t>real-world content</a:t>
            </a:r>
            <a:br/>
            <a:r>
              <a:t>at your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AI-Powered Curriculum Engine: 1 Template → 1,000s of Curriculums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C0"/>
                </a:solidFill>
                <a:latin typeface="Calibri"/>
              </a:defRPr>
            </a:pPr>
            <a:r>
              <a:t>A human expert designs one high-quality template curriculum for a specific learning need. Our AI engine then replicates it into thousands of derivative curriculums — each tailored to different topics, levels, and interests —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246888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3108960"/>
            <a:ext cx="548640" cy="5486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Discover</a:t>
            </a:r>
            <a:br/>
            <a:r>
              <a:t>Learning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Research real learner</a:t>
            </a:r>
            <a:br/>
            <a:r>
              <a:t>needs &amp; pain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29184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D2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926080"/>
            <a:ext cx="246888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3108960"/>
            <a:ext cx="548640" cy="5486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74903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Design</a:t>
            </a:r>
            <a:br/>
            <a:r>
              <a:t>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389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Human expert creates</a:t>
            </a:r>
            <a:br/>
            <a:r>
              <a:t>high-quality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29184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D2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926080"/>
            <a:ext cx="246888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89520" y="3108960"/>
            <a:ext cx="548640" cy="5486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74903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Test &amp;</a:t>
            </a:r>
            <a:br/>
            <a:r>
              <a:t>Refine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389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Real-world testing</a:t>
            </a:r>
            <a:br/>
            <a:r>
              <a:t>&amp; iteration cycles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29184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D2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2926080"/>
            <a:ext cx="246888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8480" y="3108960"/>
            <a:ext cx="548640" cy="5486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74903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</a:t>
            </a:r>
            <a:br/>
            <a:r>
              <a:t>Replicates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4389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1 template becomes</a:t>
            </a:r>
            <a:br/>
            <a:r>
              <a:t>1000s of curriculums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577840"/>
            <a:ext cx="10332720" cy="82296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00D2FF"/>
                </a:solidFill>
                <a:latin typeface="Calibri"/>
              </a:defRPr>
            </a:pPr>
            <a:r>
              <a:t>💡 Key Insight: Every curriculum is pre-configured for a specific audience — all settings, content, and exercises are hidden so learners focus exclusively on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 massive, growing market with room for disruption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3108960" cy="384048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C97B"/>
                </a:solidFill>
                <a:latin typeface="Calibri"/>
              </a:defRPr>
            </a:pPr>
            <a:r>
              <a:t>$70B+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661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Global Language</a:t>
            </a:r>
            <a:br/>
            <a:r>
              <a:t>Learning Market</a:t>
            </a:r>
            <a:br/>
            <a:r>
              <a:t>by 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572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The total addressable</a:t>
            </a:r>
            <a:br/>
            <a:r>
              <a:t>market for all language</a:t>
            </a:r>
            <a:br/>
            <a:r>
              <a:t>learning products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03120"/>
            <a:ext cx="3108960" cy="384048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C97B"/>
                </a:solidFill>
                <a:latin typeface="Calibri"/>
              </a:defRPr>
            </a:pPr>
            <a:r>
              <a:t>$15B+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5661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Mobile Language</a:t>
            </a:r>
            <a:br/>
            <a:r>
              <a:t>Learning Apps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572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Digital-first learners</a:t>
            </a:r>
            <a:br/>
            <a:r>
              <a:t>who prefer mobile</a:t>
            </a:r>
            <a:br/>
            <a:r>
              <a:t>app-based solutions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103120"/>
            <a:ext cx="3108960" cy="384048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C97B"/>
                </a:solidFill>
                <a:latin typeface="Calibri"/>
              </a:defRPr>
            </a:pPr>
            <a:r>
              <a:t>$150M+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5661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Content-Driven</a:t>
            </a:r>
            <a:br/>
            <a:r>
              <a:t>Language Learners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572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Busy adults who want</a:t>
            </a:r>
            <a:br/>
            <a:r>
              <a:t>engaging, entertainment-</a:t>
            </a:r>
            <a:br/>
            <a:r>
              <a:t>based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WHY STEP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Content-first approach with unbeatable unit economics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332720" cy="5486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01752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Duolingo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Babbel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Busuu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43200"/>
            <a:ext cx="10332720" cy="594360"/>
          </a:xfrm>
          <a:prstGeom prst="roundRect">
            <a:avLst/>
          </a:prstGeom>
          <a:solidFill>
            <a:srgbClr val="2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Content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Generic drills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Scripted dialogues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Community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7889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Real entertainment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83280"/>
            <a:ext cx="10332720" cy="59436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429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429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Gamification-dependent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429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429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Social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429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Content you love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023360"/>
            <a:ext cx="10332720" cy="594360"/>
          </a:xfrm>
          <a:prstGeom prst="roundRect">
            <a:avLst/>
          </a:prstGeom>
          <a:solidFill>
            <a:srgbClr val="2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069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Personalization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069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Adaptive difficulty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069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Course-based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069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Level-based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0690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AI-curated per niche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663440"/>
            <a:ext cx="10332720" cy="59436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709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709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High (generic)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709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Low (manual)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709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709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Very High (AI engine)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303520"/>
            <a:ext cx="10332720" cy="594360"/>
          </a:xfrm>
          <a:prstGeom prst="roundRect">
            <a:avLst/>
          </a:prstGeom>
          <a:solidFill>
            <a:srgbClr val="2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349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Margin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5349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349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349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5349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Very High (premade)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High-margin, scalable content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Revenue Streams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5029200" cy="1097280"/>
          </a:xfrm>
          <a:prstGeom prst="roundRect">
            <a:avLst>
              <a:gd name="adj" fmla="val 3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Freemium Subscription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Free tier with limited access. Premium unlocks full curriculum library, all activity types, and advanced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94760"/>
            <a:ext cx="5029200" cy="1097280"/>
          </a:xfrm>
          <a:prstGeom prst="roundRect">
            <a:avLst>
              <a:gd name="adj" fmla="val 3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B2B Partnerships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51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White-label curriculum solutions for language schools, corporate training, and educational institutions.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029200"/>
            <a:ext cx="5029200" cy="1097280"/>
          </a:xfrm>
          <a:prstGeom prst="roundRect">
            <a:avLst>
              <a:gd name="adj" fmla="val 3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Long-Tail Niche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486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Cover hundreds of specific learning niches. Each niche attracts its own organic audience and word-of-mouth.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Why Margins Are Exceptional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560320"/>
            <a:ext cx="4663440" cy="3474720"/>
          </a:xfrm>
          <a:prstGeom prst="roundRect">
            <a:avLst>
              <a:gd name="adj" fmla="val 3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✓  All content is premade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0632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No per-user generation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✓  Shared content pool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7947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All users consume the same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✓  AI replication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1 template → 1000s of curriculums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937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✓  Near-zero marginal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52578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Adding users costs almost nothing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TRACTION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From NSpace to Step: Lessons learned, momentum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NSpace (Previous Product)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5029200" cy="2286000"/>
          </a:xfrm>
          <a:prstGeom prst="roundRect">
            <a:avLst>
              <a:gd name="adj" fmla="val 3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Creator-led vocabulary learning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Peaked at ~3,000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Proved the core tech: AI-generated deep vocab drills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Users loved the drill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But: low retention → product-market fit issue at concept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Key learning: users need pre-built paths, not DIY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7B"/>
                </a:solidFill>
                <a:latin typeface="Calibri"/>
              </a:defRPr>
            </a:pPr>
            <a:r>
              <a:t>Step (New Product) — In Beta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560320"/>
            <a:ext cx="4663440" cy="2286000"/>
          </a:xfrm>
          <a:prstGeom prst="roundRect">
            <a:avLst>
              <a:gd name="adj" fmla="val 3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Consumer-led with premade curriculums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971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Every curriculum designed for a specific 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All settings pre-configured — learner just learns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611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Very positive early beta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Strong early traction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Extremely high margins (shared content pool)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Key Metrics (Beta)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5778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7B"/>
                </a:solidFill>
                <a:latin typeface="Calibri"/>
              </a:defRPr>
            </a:pPr>
            <a:r>
              <a:t>[TBD]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989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Beta Users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55778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5623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7B"/>
                </a:solidFill>
                <a:latin typeface="Calibri"/>
              </a:defRPr>
            </a:pPr>
            <a:r>
              <a:t>[TBD]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989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Retention 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55778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5623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7B"/>
                </a:solidFill>
                <a:latin typeface="Calibri"/>
              </a:defRPr>
            </a:pPr>
            <a:r>
              <a:t>[TBD]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5989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Curriculums Live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59" y="55778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5623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7B"/>
                </a:solidFill>
                <a:latin typeface="Calibri"/>
              </a:defRPr>
            </a:pPr>
            <a:r>
              <a:t>[TBD]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199" y="5989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Avg. Session Time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55778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5623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7B"/>
                </a:solidFill>
                <a:latin typeface="Calibri"/>
              </a:defRPr>
            </a:pPr>
            <a:r>
              <a:t>[TBD]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989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NPS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Technical founder with global education &amp; engineering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6400800" cy="3840480"/>
          </a:xfrm>
          <a:prstGeom prst="roundRect">
            <a:avLst>
              <a:gd name="adj" fmla="val 3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Long Le  —  Founder &amp;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🎓  MBA — Melbourne Business School, Australia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29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🎓  BA Computer Science &amp; Economics (Double Major) — Gettysburg College, USA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💼  4 years as Software Developer Team Lead at Epic (epic.com)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51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     Leading Electronic Health Record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🚀  Built NSpace from 0 → 3,000 users, now building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🔧  Full-stack technical founder: product, engineering, AI, business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103120"/>
            <a:ext cx="3474720" cy="384048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🔜 Hiring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834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Learning Content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383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 IELTS 8.0+ or equivalent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703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 5+ years language teaching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023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 User research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343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 TESOL preferred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663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•  Creative &amp; independent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1206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8C00"/>
                </a:solidFill>
                <a:latin typeface="Calibri"/>
              </a:defRPr>
            </a:pPr>
            <a:r>
              <a:t>This role is the bottleneck — drives the core curriculum engine that powers the entire product.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Raising $200K at $2M pre-money 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Deal Terms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5029200" cy="1828800"/>
          </a:xfrm>
          <a:prstGeom prst="roundRect">
            <a:avLst>
              <a:gd name="adj" fmla="val 3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Round: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651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Angel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Raising: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971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$200,000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Pre-Money Valuation: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291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$2,000,000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Previous Round: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$20K pre-seed (2023) at $1M cap (SAFE)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31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Runway: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31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24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Use of Funds — $8,000/month for 24 months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651760"/>
            <a:ext cx="137160" cy="82296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66560" y="2651760"/>
            <a:ext cx="4480560" cy="822960"/>
          </a:xfrm>
          <a:prstGeom prst="roundRect">
            <a:avLst>
              <a:gd name="adj" fmla="val 2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Learning Content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$3,000/mo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788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C63FF"/>
                </a:solidFill>
                <a:latin typeface="Calibri"/>
              </a:defRPr>
            </a:pPr>
            <a:r>
              <a:t>37.5%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611880"/>
            <a:ext cx="137160" cy="82296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0" y="3611880"/>
            <a:ext cx="4480560" cy="822960"/>
          </a:xfrm>
          <a:prstGeom prst="roundRect">
            <a:avLst>
              <a:gd name="adj" fmla="val 2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Marketing &amp;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$4,000/mo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749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00C97B"/>
                </a:solidFill>
                <a:latin typeface="Calibri"/>
              </a:defRPr>
            </a:pPr>
            <a:r>
              <a:t>50.0%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572000"/>
            <a:ext cx="137160" cy="82296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66560" y="4572000"/>
            <a:ext cx="4480560" cy="822960"/>
          </a:xfrm>
          <a:prstGeom prst="roundRect">
            <a:avLst>
              <a:gd name="adj" fmla="val 2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Operations &amp; Legal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$1,000/mo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8C00"/>
                </a:solidFill>
                <a:latin typeface="Calibri"/>
              </a:defRPr>
            </a:pPr>
            <a:r>
              <a:t>12.5%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24-Month Milestones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303520"/>
            <a:ext cx="1920240" cy="118872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349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7B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715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Niche</a:t>
            </a:r>
            <a:br/>
            <a:r>
              <a:t>Curriculums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17520" y="5303520"/>
            <a:ext cx="1920240" cy="118872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349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7B"/>
                </a:solidFill>
                <a:latin typeface="Calibri"/>
              </a:defRPr>
            </a:pPr>
            <a:r>
              <a:t>[TBD]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5715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Active</a:t>
            </a:r>
            <a:br/>
            <a:r>
              <a:t>Users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5303520"/>
            <a:ext cx="1920240" cy="118872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5349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7B"/>
                </a:solidFill>
                <a:latin typeface="Calibri"/>
              </a:defRPr>
            </a:pPr>
            <a:r>
              <a:t>5+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5715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Target</a:t>
            </a:r>
            <a:br/>
            <a:r>
              <a:t>Languages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23759" y="5303520"/>
            <a:ext cx="1920240" cy="118872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199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59" y="5349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7B"/>
                </a:solidFill>
                <a:latin typeface="Calibri"/>
              </a:defRPr>
            </a:pPr>
            <a:r>
              <a:t>[TBD]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59" y="5715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Monthly</a:t>
            </a:r>
            <a:br/>
            <a:r>
              <a:t>Revenue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6880" y="5303520"/>
            <a:ext cx="1920240" cy="118872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832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5349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7B"/>
                </a:solidFill>
                <a:latin typeface="Calibri"/>
              </a:defRPr>
            </a:pPr>
            <a:r>
              <a:t>[TBD]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5715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B2B</a:t>
            </a:r>
            <a:br/>
            <a:r>
              <a:t>Partners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Make language learning feel like entertainment,</a:t>
            </a:r>
            <a:br/>
            <a:r>
              <a:t>not education.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0C0"/>
                </a:solidFill>
                <a:latin typeface="Calibri"/>
              </a:defRPr>
            </a:pPr>
            <a:r>
              <a:t>Step is building the Netflix of language learning — where every piece of content is a lesson, every story teaches you something new, and fluency happens naturally.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389120"/>
            <a:ext cx="5760720" cy="1371600"/>
          </a:xfrm>
          <a:prstGeom prst="roundRect">
            <a:avLst>
              <a:gd name="adj" fmla="val 5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Let's talk</a:t>
            </a:r>
          </a:p>
          <a:p>
            <a:pPr algn="ctr">
              <a:spcBef>
                <a:spcPts val="800"/>
              </a:spcBef>
              <a:defRPr sz="1600">
                <a:solidFill>
                  <a:srgbClr val="DDDDFF"/>
                </a:solidFill>
                <a:latin typeface="Calibri"/>
              </a:defRPr>
            </a:pPr>
            <a:r>
              <a:t>step.is  ·  Long Le  ·  Founder &amp;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NSPACE TECHNOLOGY PTE. LTD.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